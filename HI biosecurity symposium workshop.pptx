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69" r:id="rId5"/>
    <p:sldId id="1367" r:id="rId6"/>
    <p:sldId id="1360" r:id="rId7"/>
    <p:sldId id="1363" r:id="rId8"/>
    <p:sldId id="1368" r:id="rId9"/>
    <p:sldId id="1370" r:id="rId10"/>
    <p:sldId id="1372" r:id="rId11"/>
    <p:sldId id="1371" r:id="rId12"/>
    <p:sldId id="1365" r:id="rId13"/>
    <p:sldId id="1364" r:id="rId14"/>
    <p:sldId id="13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8F439D-B1E8-1CAD-FD3D-A898D9B10EDA}" name="Craig Phillips" initials="CP" userId="S::craig.phillips@agresearch.co.nz::6bcd5ae4-c12d-4c06-ac75-6ed26ad3bed3" providerId="AD"/>
  <p188:author id="{9CC334F8-1736-1F5C-6DD7-518E527D76AB}" name="Donna Gibson" initials="DG" userId="S::Donna.Gibson@plantandfood.co.nz::cbe3476a-a825-47b4-90d7-cdcd8d60342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E5FBFF"/>
    <a:srgbClr val="004149"/>
    <a:srgbClr val="F8766D"/>
    <a:srgbClr val="80FF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68D08D-637C-4D8E-80DF-5C8AA13C9310}" v="87" dt="2026-06-03T01:47:29.355"/>
    <p1510:client id="{C1D64658-E039-4434-8187-BB64A0DBBD92}" v="50" dt="2026-06-03T02:20:31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9" y="-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D4CEC-391A-476F-97F2-B1AC5149FFC5}" type="datetimeFigureOut">
              <a:rPr lang="en-NZ" smtClean="0"/>
              <a:t>2/06/2026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BCC282-DD14-4F56-A9DE-EA9E73E1388B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949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/>
              <a:t>Make sure everyone is 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CC282-DD14-4F56-A9DE-EA9E73E1388B}" type="slidenum">
              <a:rPr lang="en-NZ" smtClean="0"/>
              <a:t>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14632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Fix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8808D44B-A476-9723-8787-3D3E3D996F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7157" r="7157"/>
          <a:stretch/>
        </p:blipFill>
        <p:spPr>
          <a:xfrm flipH="1">
            <a:off x="4041601" y="0"/>
            <a:ext cx="8150400" cy="634184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EBE8424-A7F1-9DD6-FC1B-7EFBAB3E4DB9}"/>
              </a:ext>
            </a:extLst>
          </p:cNvPr>
          <p:cNvSpPr/>
          <p:nvPr userDrawn="1"/>
        </p:nvSpPr>
        <p:spPr>
          <a:xfrm>
            <a:off x="4224338" y="6308725"/>
            <a:ext cx="7967662" cy="549275"/>
          </a:xfrm>
          <a:prstGeom prst="rect">
            <a:avLst/>
          </a:prstGeom>
          <a:gradFill>
            <a:gsLst>
              <a:gs pos="0">
                <a:schemeClr val="accent3"/>
              </a:gs>
              <a:gs pos="99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99A7FE5-F93F-1B1B-9FBB-EDD04120E4EF}"/>
              </a:ext>
            </a:extLst>
          </p:cNvPr>
          <p:cNvGrpSpPr/>
          <p:nvPr userDrawn="1"/>
        </p:nvGrpSpPr>
        <p:grpSpPr>
          <a:xfrm>
            <a:off x="122237" y="0"/>
            <a:ext cx="12069763" cy="6308725"/>
            <a:chOff x="122237" y="0"/>
            <a:chExt cx="12069763" cy="630872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A8CF2F5-67BD-F6C4-8FDE-4D0313083E2D}"/>
                </a:ext>
              </a:extLst>
            </p:cNvPr>
            <p:cNvSpPr/>
            <p:nvPr userDrawn="1"/>
          </p:nvSpPr>
          <p:spPr>
            <a:xfrm>
              <a:off x="5881687" y="549275"/>
              <a:ext cx="5759450" cy="5759450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7E3B727-F2E3-57EC-2D8F-9F3251A751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41601" y="549275"/>
              <a:ext cx="815039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5F6A52B-55C9-2FF8-760C-8A97A7872C26}"/>
                </a:ext>
              </a:extLst>
            </p:cNvPr>
            <p:cNvCxnSpPr/>
            <p:nvPr userDrawn="1"/>
          </p:nvCxnSpPr>
          <p:spPr>
            <a:xfrm>
              <a:off x="11641137" y="0"/>
              <a:ext cx="0" cy="630872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218B2D6-E387-AA46-782C-CCFC463FD01F}"/>
                </a:ext>
              </a:extLst>
            </p:cNvPr>
            <p:cNvSpPr/>
            <p:nvPr userDrawn="1"/>
          </p:nvSpPr>
          <p:spPr>
            <a:xfrm>
              <a:off x="122237" y="549274"/>
              <a:ext cx="5759450" cy="5759450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4CEEDBB-5DF7-28D1-F570-1960B42BBFF4}"/>
              </a:ext>
            </a:extLst>
          </p:cNvPr>
          <p:cNvSpPr/>
          <p:nvPr userDrawn="1"/>
        </p:nvSpPr>
        <p:spPr>
          <a:xfrm>
            <a:off x="0" y="0"/>
            <a:ext cx="422433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7AA46-D274-D262-C47E-B28F634341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2" y="1628190"/>
            <a:ext cx="3192175" cy="2006083"/>
          </a:xfrm>
        </p:spPr>
        <p:txBody>
          <a:bodyPr lIns="0" tIns="0" rIns="0" bIns="0"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899CD-4B9E-D93C-E898-1DCC451B09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3802645"/>
            <a:ext cx="3192174" cy="9419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Author(s)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3C307C1-F0F3-A2C5-82D4-47942653D3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72762"/>
            <a:ext cx="3192716" cy="39211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200" b="0">
                <a:solidFill>
                  <a:schemeClr val="accent1"/>
                </a:solidFill>
              </a:defRPr>
            </a:lvl2pPr>
            <a:lvl3pPr marL="914400" indent="0">
              <a:buNone/>
              <a:defRPr sz="1200" b="0">
                <a:solidFill>
                  <a:schemeClr val="accent1"/>
                </a:solidFill>
              </a:defRPr>
            </a:lvl3pPr>
            <a:lvl4pPr marL="1371600" indent="0">
              <a:buNone/>
              <a:defRPr sz="1200" b="0">
                <a:solidFill>
                  <a:schemeClr val="accent1"/>
                </a:solidFill>
              </a:defRPr>
            </a:lvl4pPr>
            <a:lvl5pPr marL="1828800" indent="0">
              <a:buNone/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Presenting at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342EDD-D820-9753-5F26-E34A92BE9A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5468062"/>
            <a:ext cx="3192716" cy="12495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  <a:lvl2pPr marL="457200" indent="0">
              <a:buNone/>
              <a:defRPr sz="1000">
                <a:solidFill>
                  <a:schemeClr val="accent1"/>
                </a:solidFill>
              </a:defRPr>
            </a:lvl2pPr>
            <a:lvl3pPr marL="914400" indent="0">
              <a:buNone/>
              <a:defRPr sz="1000">
                <a:solidFill>
                  <a:schemeClr val="accent1"/>
                </a:solidFill>
              </a:defRPr>
            </a:lvl3pPr>
            <a:lvl4pPr marL="1371600" indent="0">
              <a:buNone/>
              <a:defRPr sz="1000">
                <a:solidFill>
                  <a:schemeClr val="accent1"/>
                </a:solidFill>
              </a:defRPr>
            </a:lvl4pPr>
            <a:lvl5pPr marL="1828800" indent="0"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Date</a:t>
            </a:r>
            <a:endParaRPr lang="en-US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FFE13851-912F-22AB-A915-A4B57FB02D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60260" y="469679"/>
            <a:ext cx="2031895" cy="77882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7223176-A047-BFE4-420B-B03E59BD3A26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484831-BEE6-9145-39E2-85C41F14964A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New Zealand Institute for Bioeconomy Science Limited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DAE4C1D-1CE2-3865-A27F-B1B61A92C323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3291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ixe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8808D44B-A476-9723-8787-3D3E3D996F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41601" y="0"/>
            <a:ext cx="8150400" cy="634184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EBE8424-A7F1-9DD6-FC1B-7EFBAB3E4DB9}"/>
              </a:ext>
            </a:extLst>
          </p:cNvPr>
          <p:cNvSpPr/>
          <p:nvPr userDrawn="1"/>
        </p:nvSpPr>
        <p:spPr>
          <a:xfrm>
            <a:off x="4224338" y="6308725"/>
            <a:ext cx="7967662" cy="549275"/>
          </a:xfrm>
          <a:prstGeom prst="rect">
            <a:avLst/>
          </a:prstGeom>
          <a:gradFill>
            <a:gsLst>
              <a:gs pos="0">
                <a:schemeClr val="accent3"/>
              </a:gs>
              <a:gs pos="99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ED409BF-05DD-AE79-CA36-F1542B5E1A63}"/>
              </a:ext>
            </a:extLst>
          </p:cNvPr>
          <p:cNvGrpSpPr/>
          <p:nvPr userDrawn="1"/>
        </p:nvGrpSpPr>
        <p:grpSpPr>
          <a:xfrm>
            <a:off x="122237" y="0"/>
            <a:ext cx="12069763" cy="6308725"/>
            <a:chOff x="122237" y="0"/>
            <a:chExt cx="12069763" cy="630872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53D9572-CAF5-8680-F3B3-B8F3E3B0CBA6}"/>
                </a:ext>
              </a:extLst>
            </p:cNvPr>
            <p:cNvSpPr/>
            <p:nvPr userDrawn="1"/>
          </p:nvSpPr>
          <p:spPr>
            <a:xfrm>
              <a:off x="5881687" y="549275"/>
              <a:ext cx="5759450" cy="5759450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1D30B77-EA23-CCB8-677B-76C583B728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41601" y="549275"/>
              <a:ext cx="815039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A05DE8D-2AA0-595C-4824-ABDD957D4991}"/>
                </a:ext>
              </a:extLst>
            </p:cNvPr>
            <p:cNvCxnSpPr/>
            <p:nvPr userDrawn="1"/>
          </p:nvCxnSpPr>
          <p:spPr>
            <a:xfrm>
              <a:off x="11641137" y="0"/>
              <a:ext cx="0" cy="630872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5E07F18-5B24-144D-CDF6-14B483066A93}"/>
                </a:ext>
              </a:extLst>
            </p:cNvPr>
            <p:cNvSpPr/>
            <p:nvPr userDrawn="1"/>
          </p:nvSpPr>
          <p:spPr>
            <a:xfrm>
              <a:off x="122237" y="549274"/>
              <a:ext cx="5759450" cy="5759450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4CEEDBB-5DF7-28D1-F570-1960B42BBFF4}"/>
              </a:ext>
            </a:extLst>
          </p:cNvPr>
          <p:cNvSpPr/>
          <p:nvPr userDrawn="1"/>
        </p:nvSpPr>
        <p:spPr>
          <a:xfrm>
            <a:off x="0" y="0"/>
            <a:ext cx="422433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7AA46-D274-D262-C47E-B28F634341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2" y="1628190"/>
            <a:ext cx="3192175" cy="2006083"/>
          </a:xfrm>
        </p:spPr>
        <p:txBody>
          <a:bodyPr lIns="0" tIns="0" rIns="0" bIns="0"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899CD-4B9E-D93C-E898-1DCC451B09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3802645"/>
            <a:ext cx="3192174" cy="9419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Author(s)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3C307C1-F0F3-A2C5-82D4-47942653D3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72762"/>
            <a:ext cx="3192716" cy="39211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200" b="0">
                <a:solidFill>
                  <a:schemeClr val="accent1"/>
                </a:solidFill>
              </a:defRPr>
            </a:lvl2pPr>
            <a:lvl3pPr marL="914400" indent="0">
              <a:buNone/>
              <a:defRPr sz="1200" b="0">
                <a:solidFill>
                  <a:schemeClr val="accent1"/>
                </a:solidFill>
              </a:defRPr>
            </a:lvl3pPr>
            <a:lvl4pPr marL="1371600" indent="0">
              <a:buNone/>
              <a:defRPr sz="1200" b="0">
                <a:solidFill>
                  <a:schemeClr val="accent1"/>
                </a:solidFill>
              </a:defRPr>
            </a:lvl4pPr>
            <a:lvl5pPr marL="1828800" indent="0">
              <a:buNone/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Presenting at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342EDD-D820-9753-5F26-E34A92BE9A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5468062"/>
            <a:ext cx="3192716" cy="12495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  <a:lvl2pPr marL="457200" indent="0">
              <a:buNone/>
              <a:defRPr sz="1000">
                <a:solidFill>
                  <a:schemeClr val="accent1"/>
                </a:solidFill>
              </a:defRPr>
            </a:lvl2pPr>
            <a:lvl3pPr marL="914400" indent="0">
              <a:buNone/>
              <a:defRPr sz="1000">
                <a:solidFill>
                  <a:schemeClr val="accent1"/>
                </a:solidFill>
              </a:defRPr>
            </a:lvl3pPr>
            <a:lvl4pPr marL="1371600" indent="0">
              <a:buNone/>
              <a:defRPr sz="1000">
                <a:solidFill>
                  <a:schemeClr val="accent1"/>
                </a:solidFill>
              </a:defRPr>
            </a:lvl4pPr>
            <a:lvl5pPr marL="1828800" indent="0"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Date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CD8ACC-FEBF-9A57-A94E-05A9C712648E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1591F3-1FE0-FCE8-C19B-187BCEAB402D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New Zealand Institute for Bioeconomy Science Limited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4590E66-932A-A669-6563-0BAEB64A9B47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9D6816A-567B-DB36-8647-A922A49604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60260" y="469679"/>
            <a:ext cx="2031895" cy="7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701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ixed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8808D44B-A476-9723-8787-3D3E3D996F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41601" y="0"/>
            <a:ext cx="8150400" cy="634184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EBE8424-A7F1-9DD6-FC1B-7EFBAB3E4DB9}"/>
              </a:ext>
            </a:extLst>
          </p:cNvPr>
          <p:cNvSpPr/>
          <p:nvPr userDrawn="1"/>
        </p:nvSpPr>
        <p:spPr>
          <a:xfrm>
            <a:off x="4224337" y="6308725"/>
            <a:ext cx="7967663" cy="549275"/>
          </a:xfrm>
          <a:prstGeom prst="rect">
            <a:avLst/>
          </a:prstGeom>
          <a:gradFill>
            <a:gsLst>
              <a:gs pos="0">
                <a:schemeClr val="accent3"/>
              </a:gs>
              <a:gs pos="99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797356-409B-AF59-1BC3-E6CEBE9DCC45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2FC096-D2C4-0A1C-D03E-1B5B4796A87A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-3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New Zealand Institute for Bioeconomy Science Limited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F52C370-02E6-4E6D-771D-FE352665D8AE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BD0E012-7B51-D5EB-5044-6A5538C33AAB}"/>
              </a:ext>
            </a:extLst>
          </p:cNvPr>
          <p:cNvGrpSpPr/>
          <p:nvPr userDrawn="1"/>
        </p:nvGrpSpPr>
        <p:grpSpPr>
          <a:xfrm>
            <a:off x="122237" y="0"/>
            <a:ext cx="12069763" cy="6308725"/>
            <a:chOff x="122237" y="0"/>
            <a:chExt cx="12069763" cy="630872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C656869-E8E5-405C-0393-53A956F267CA}"/>
                </a:ext>
              </a:extLst>
            </p:cNvPr>
            <p:cNvSpPr/>
            <p:nvPr userDrawn="1"/>
          </p:nvSpPr>
          <p:spPr>
            <a:xfrm>
              <a:off x="5881687" y="549275"/>
              <a:ext cx="5759450" cy="5759450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AE2A0E-2EDB-F888-AD90-3D715AB66D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41601" y="549275"/>
              <a:ext cx="815039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3E8CBF-B194-4B6C-49A3-894F2BEE84EB}"/>
                </a:ext>
              </a:extLst>
            </p:cNvPr>
            <p:cNvCxnSpPr/>
            <p:nvPr userDrawn="1"/>
          </p:nvCxnSpPr>
          <p:spPr>
            <a:xfrm>
              <a:off x="11641137" y="0"/>
              <a:ext cx="0" cy="630872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517FAD2-C9DC-8CDA-4915-8F920300A8C4}"/>
                </a:ext>
              </a:extLst>
            </p:cNvPr>
            <p:cNvSpPr/>
            <p:nvPr userDrawn="1"/>
          </p:nvSpPr>
          <p:spPr>
            <a:xfrm>
              <a:off x="122237" y="549274"/>
              <a:ext cx="5759450" cy="5759450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4CEEDBB-5DF7-28D1-F570-1960B42BBFF4}"/>
              </a:ext>
            </a:extLst>
          </p:cNvPr>
          <p:cNvSpPr/>
          <p:nvPr userDrawn="1"/>
        </p:nvSpPr>
        <p:spPr>
          <a:xfrm>
            <a:off x="0" y="0"/>
            <a:ext cx="422433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7AA46-D274-D262-C47E-B28F634341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2" y="1628190"/>
            <a:ext cx="3192174" cy="2006083"/>
          </a:xfrm>
        </p:spPr>
        <p:txBody>
          <a:bodyPr lIns="0" tIns="0" rIns="0" bIns="0"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899CD-4B9E-D93C-E898-1DCC451B09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2" y="3802645"/>
            <a:ext cx="3192173" cy="9419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Author(s)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3C307C1-F0F3-A2C5-82D4-47942653D3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72762"/>
            <a:ext cx="3192716" cy="39211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200" b="0">
                <a:solidFill>
                  <a:schemeClr val="accent1"/>
                </a:solidFill>
              </a:defRPr>
            </a:lvl2pPr>
            <a:lvl3pPr marL="914400" indent="0">
              <a:buNone/>
              <a:defRPr sz="1200" b="0">
                <a:solidFill>
                  <a:schemeClr val="accent1"/>
                </a:solidFill>
              </a:defRPr>
            </a:lvl3pPr>
            <a:lvl4pPr marL="1371600" indent="0">
              <a:buNone/>
              <a:defRPr sz="1200" b="0">
                <a:solidFill>
                  <a:schemeClr val="accent1"/>
                </a:solidFill>
              </a:defRPr>
            </a:lvl4pPr>
            <a:lvl5pPr marL="1828800" indent="0">
              <a:buNone/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Presenting at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342EDD-D820-9753-5F26-E34A92BE9A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5468062"/>
            <a:ext cx="3192716" cy="12495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  <a:lvl2pPr marL="457200" indent="0">
              <a:buNone/>
              <a:defRPr sz="1000">
                <a:solidFill>
                  <a:schemeClr val="accent1"/>
                </a:solidFill>
              </a:defRPr>
            </a:lvl2pPr>
            <a:lvl3pPr marL="914400" indent="0">
              <a:buNone/>
              <a:defRPr sz="1000">
                <a:solidFill>
                  <a:schemeClr val="accent1"/>
                </a:solidFill>
              </a:defRPr>
            </a:lvl3pPr>
            <a:lvl4pPr marL="1371600" indent="0">
              <a:buNone/>
              <a:defRPr sz="1000">
                <a:solidFill>
                  <a:schemeClr val="accent1"/>
                </a:solidFill>
              </a:defRPr>
            </a:lvl4pPr>
            <a:lvl5pPr marL="1828800" indent="0"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Date</a:t>
            </a:r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E70470-AEF9-2F4C-947D-6E00492FF261}"/>
              </a:ext>
            </a:extLst>
          </p:cNvPr>
          <p:cNvGrpSpPr/>
          <p:nvPr userDrawn="1"/>
        </p:nvGrpSpPr>
        <p:grpSpPr>
          <a:xfrm>
            <a:off x="454338" y="6480545"/>
            <a:ext cx="4332377" cy="200055"/>
            <a:chOff x="4041600" y="6499895"/>
            <a:chExt cx="4332377" cy="20005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9BD3B3-4EA9-CA8C-D50F-E67C85BB0E03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New Zealand Institute for Bioeconomy Science Limited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C76404D-99AA-D6EB-C6EC-0A4152D292E6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4F0B8F1-2622-294A-5349-71139C045C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60260" y="469679"/>
            <a:ext cx="2031895" cy="7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025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ixed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8808D44B-A476-9723-8787-3D3E3D996F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41601" y="0"/>
            <a:ext cx="8150400" cy="634184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EBE8424-A7F1-9DD6-FC1B-7EFBAB3E4DB9}"/>
              </a:ext>
            </a:extLst>
          </p:cNvPr>
          <p:cNvSpPr/>
          <p:nvPr userDrawn="1"/>
        </p:nvSpPr>
        <p:spPr>
          <a:xfrm>
            <a:off x="4224336" y="6308725"/>
            <a:ext cx="7967664" cy="549275"/>
          </a:xfrm>
          <a:prstGeom prst="rect">
            <a:avLst/>
          </a:prstGeom>
          <a:gradFill>
            <a:gsLst>
              <a:gs pos="0">
                <a:schemeClr val="accent3"/>
              </a:gs>
              <a:gs pos="99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3D618141-EAFB-1AF0-1804-9CF4D33C36F2}"/>
              </a:ext>
            </a:extLst>
          </p:cNvPr>
          <p:cNvSpPr/>
          <p:nvPr userDrawn="1"/>
        </p:nvSpPr>
        <p:spPr>
          <a:xfrm rot="5400000" flipV="1">
            <a:off x="4964201" y="-920837"/>
            <a:ext cx="6308723" cy="8150400"/>
          </a:xfrm>
          <a:custGeom>
            <a:avLst/>
            <a:gdLst>
              <a:gd name="connsiteX0" fmla="*/ 0 w 6308723"/>
              <a:gd name="connsiteY0" fmla="*/ 7594149 h 8150400"/>
              <a:gd name="connsiteX1" fmla="*/ 0 w 6308723"/>
              <a:gd name="connsiteY1" fmla="*/ 7612150 h 8150400"/>
              <a:gd name="connsiteX2" fmla="*/ 539748 w 6308723"/>
              <a:gd name="connsiteY2" fmla="*/ 7612150 h 8150400"/>
              <a:gd name="connsiteX3" fmla="*/ 539748 w 6308723"/>
              <a:gd name="connsiteY3" fmla="*/ 8150400 h 8150400"/>
              <a:gd name="connsiteX4" fmla="*/ 557748 w 6308723"/>
              <a:gd name="connsiteY4" fmla="*/ 8150400 h 8150400"/>
              <a:gd name="connsiteX5" fmla="*/ 557748 w 6308723"/>
              <a:gd name="connsiteY5" fmla="*/ 7612150 h 8150400"/>
              <a:gd name="connsiteX6" fmla="*/ 6308723 w 6308723"/>
              <a:gd name="connsiteY6" fmla="*/ 7612150 h 8150400"/>
              <a:gd name="connsiteX7" fmla="*/ 6308723 w 6308723"/>
              <a:gd name="connsiteY7" fmla="*/ 7594149 h 8150400"/>
              <a:gd name="connsiteX8" fmla="*/ 557748 w 6308723"/>
              <a:gd name="connsiteY8" fmla="*/ 7594149 h 8150400"/>
              <a:gd name="connsiteX9" fmla="*/ 557748 w 6308723"/>
              <a:gd name="connsiteY9" fmla="*/ 0 h 8150400"/>
              <a:gd name="connsiteX10" fmla="*/ 539748 w 6308723"/>
              <a:gd name="connsiteY10" fmla="*/ 0 h 8150400"/>
              <a:gd name="connsiteX11" fmla="*/ 539748 w 6308723"/>
              <a:gd name="connsiteY11" fmla="*/ 7594149 h 815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08723" h="8150400">
                <a:moveTo>
                  <a:pt x="0" y="7594149"/>
                </a:moveTo>
                <a:lnTo>
                  <a:pt x="0" y="7612150"/>
                </a:lnTo>
                <a:lnTo>
                  <a:pt x="539748" y="7612150"/>
                </a:lnTo>
                <a:lnTo>
                  <a:pt x="539748" y="8150400"/>
                </a:lnTo>
                <a:lnTo>
                  <a:pt x="557748" y="8150400"/>
                </a:lnTo>
                <a:lnTo>
                  <a:pt x="557748" y="7612150"/>
                </a:lnTo>
                <a:lnTo>
                  <a:pt x="6308723" y="7612150"/>
                </a:lnTo>
                <a:lnTo>
                  <a:pt x="6308723" y="7594149"/>
                </a:lnTo>
                <a:lnTo>
                  <a:pt x="557748" y="7594149"/>
                </a:lnTo>
                <a:lnTo>
                  <a:pt x="557748" y="0"/>
                </a:lnTo>
                <a:lnTo>
                  <a:pt x="539748" y="0"/>
                </a:lnTo>
                <a:lnTo>
                  <a:pt x="539748" y="759414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B83E4C8-CFCD-5755-89CC-68A813F78428}"/>
              </a:ext>
            </a:extLst>
          </p:cNvPr>
          <p:cNvGrpSpPr/>
          <p:nvPr userDrawn="1"/>
        </p:nvGrpSpPr>
        <p:grpSpPr>
          <a:xfrm>
            <a:off x="122237" y="0"/>
            <a:ext cx="12069763" cy="6308725"/>
            <a:chOff x="122237" y="0"/>
            <a:chExt cx="12069763" cy="630872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CAE756E-0D6B-4161-5A39-D3C73C48B3A2}"/>
                </a:ext>
              </a:extLst>
            </p:cNvPr>
            <p:cNvSpPr/>
            <p:nvPr userDrawn="1"/>
          </p:nvSpPr>
          <p:spPr>
            <a:xfrm>
              <a:off x="5881687" y="549275"/>
              <a:ext cx="5759450" cy="5759450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FF0D0AC-BC12-7A7E-244F-F36932FA2A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41601" y="549275"/>
              <a:ext cx="8150399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084D3A0-C47A-5AF0-B4BC-ED0B4F155650}"/>
                </a:ext>
              </a:extLst>
            </p:cNvPr>
            <p:cNvCxnSpPr/>
            <p:nvPr userDrawn="1"/>
          </p:nvCxnSpPr>
          <p:spPr>
            <a:xfrm>
              <a:off x="11641137" y="0"/>
              <a:ext cx="0" cy="630872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321A045-C14F-3453-664C-90A2FAEF9A70}"/>
                </a:ext>
              </a:extLst>
            </p:cNvPr>
            <p:cNvSpPr/>
            <p:nvPr userDrawn="1"/>
          </p:nvSpPr>
          <p:spPr>
            <a:xfrm>
              <a:off x="122237" y="549274"/>
              <a:ext cx="5759450" cy="5759450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4CEEDBB-5DF7-28D1-F570-1960B42BBFF4}"/>
              </a:ext>
            </a:extLst>
          </p:cNvPr>
          <p:cNvSpPr/>
          <p:nvPr userDrawn="1"/>
        </p:nvSpPr>
        <p:spPr>
          <a:xfrm>
            <a:off x="0" y="0"/>
            <a:ext cx="422433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7AA46-D274-D262-C47E-B28F634341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2" y="1628190"/>
            <a:ext cx="3192174" cy="2006083"/>
          </a:xfrm>
        </p:spPr>
        <p:txBody>
          <a:bodyPr lIns="0" tIns="0" rIns="0" bIns="0"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899CD-4B9E-D93C-E898-1DCC451B09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2" y="3802645"/>
            <a:ext cx="3192173" cy="9419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Author(s)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3C307C1-F0F3-A2C5-82D4-47942653D3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72762"/>
            <a:ext cx="3192715" cy="39211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200" b="0">
                <a:solidFill>
                  <a:schemeClr val="accent1"/>
                </a:solidFill>
              </a:defRPr>
            </a:lvl2pPr>
            <a:lvl3pPr marL="914400" indent="0">
              <a:buNone/>
              <a:defRPr sz="1200" b="0">
                <a:solidFill>
                  <a:schemeClr val="accent1"/>
                </a:solidFill>
              </a:defRPr>
            </a:lvl3pPr>
            <a:lvl4pPr marL="1371600" indent="0">
              <a:buNone/>
              <a:defRPr sz="1200" b="0">
                <a:solidFill>
                  <a:schemeClr val="accent1"/>
                </a:solidFill>
              </a:defRPr>
            </a:lvl4pPr>
            <a:lvl5pPr marL="1828800" indent="0">
              <a:buNone/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Presenting at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342EDD-D820-9753-5F26-E34A92BE9A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5468062"/>
            <a:ext cx="3192715" cy="12495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  <a:lvl2pPr marL="457200" indent="0">
              <a:buNone/>
              <a:defRPr sz="1000">
                <a:solidFill>
                  <a:schemeClr val="accent1"/>
                </a:solidFill>
              </a:defRPr>
            </a:lvl2pPr>
            <a:lvl3pPr marL="914400" indent="0">
              <a:buNone/>
              <a:defRPr sz="1000">
                <a:solidFill>
                  <a:schemeClr val="accent1"/>
                </a:solidFill>
              </a:defRPr>
            </a:lvl3pPr>
            <a:lvl4pPr marL="1371600" indent="0">
              <a:buNone/>
              <a:defRPr sz="1000">
                <a:solidFill>
                  <a:schemeClr val="accent1"/>
                </a:solidFill>
              </a:defRPr>
            </a:lvl4pPr>
            <a:lvl5pPr marL="1828800" indent="0"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Date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87A7E7-BF8A-1FD8-3E9F-0A4758164C63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F670D36-A5F9-D3DF-93E5-1B8B23A4DB4B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New Zealand Institute for Bioeconomy Science Limited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A9009C4-9DB2-20EC-E7E3-6E49B0D69650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C4178D5-EC54-AE80-BFC6-3D1F6DC4AC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60260" y="469679"/>
            <a:ext cx="2031895" cy="7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88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82B54E9-A65C-85E0-5F25-FF4D6B64C2F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4338" y="0"/>
            <a:ext cx="7967662" cy="6308725"/>
          </a:xfrm>
          <a:custGeom>
            <a:avLst/>
            <a:gdLst>
              <a:gd name="connsiteX0" fmla="*/ 0 w 8148637"/>
              <a:gd name="connsiteY0" fmla="*/ 557750 h 6308725"/>
              <a:gd name="connsiteX1" fmla="*/ 7594149 w 8148637"/>
              <a:gd name="connsiteY1" fmla="*/ 557750 h 6308725"/>
              <a:gd name="connsiteX2" fmla="*/ 7594149 w 8148637"/>
              <a:gd name="connsiteY2" fmla="*/ 6308725 h 6308725"/>
              <a:gd name="connsiteX3" fmla="*/ 7612149 w 8148637"/>
              <a:gd name="connsiteY3" fmla="*/ 6308725 h 6308725"/>
              <a:gd name="connsiteX4" fmla="*/ 7612149 w 8148637"/>
              <a:gd name="connsiteY4" fmla="*/ 557750 h 6308725"/>
              <a:gd name="connsiteX5" fmla="*/ 8148637 w 8148637"/>
              <a:gd name="connsiteY5" fmla="*/ 557750 h 6308725"/>
              <a:gd name="connsiteX6" fmla="*/ 8148637 w 8148637"/>
              <a:gd name="connsiteY6" fmla="*/ 6308725 h 6308725"/>
              <a:gd name="connsiteX7" fmla="*/ 0 w 8148637"/>
              <a:gd name="connsiteY7" fmla="*/ 6308725 h 6308725"/>
              <a:gd name="connsiteX8" fmla="*/ 0 w 8148637"/>
              <a:gd name="connsiteY8" fmla="*/ 0 h 6308725"/>
              <a:gd name="connsiteX9" fmla="*/ 8148637 w 8148637"/>
              <a:gd name="connsiteY9" fmla="*/ 0 h 6308725"/>
              <a:gd name="connsiteX10" fmla="*/ 8148637 w 8148637"/>
              <a:gd name="connsiteY10" fmla="*/ 539750 h 6308725"/>
              <a:gd name="connsiteX11" fmla="*/ 7612149 w 8148637"/>
              <a:gd name="connsiteY11" fmla="*/ 539750 h 6308725"/>
              <a:gd name="connsiteX12" fmla="*/ 7612149 w 8148637"/>
              <a:gd name="connsiteY12" fmla="*/ 2 h 6308725"/>
              <a:gd name="connsiteX13" fmla="*/ 7594149 w 8148637"/>
              <a:gd name="connsiteY13" fmla="*/ 2 h 6308725"/>
              <a:gd name="connsiteX14" fmla="*/ 7594149 w 8148637"/>
              <a:gd name="connsiteY14" fmla="*/ 539750 h 6308725"/>
              <a:gd name="connsiteX15" fmla="*/ 0 w 8148637"/>
              <a:gd name="connsiteY15" fmla="*/ 539750 h 630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148637" h="6308725">
                <a:moveTo>
                  <a:pt x="0" y="557750"/>
                </a:moveTo>
                <a:lnTo>
                  <a:pt x="7594149" y="557750"/>
                </a:lnTo>
                <a:lnTo>
                  <a:pt x="7594149" y="6308725"/>
                </a:lnTo>
                <a:lnTo>
                  <a:pt x="7612149" y="6308725"/>
                </a:lnTo>
                <a:lnTo>
                  <a:pt x="7612149" y="557750"/>
                </a:lnTo>
                <a:lnTo>
                  <a:pt x="8148637" y="557750"/>
                </a:lnTo>
                <a:lnTo>
                  <a:pt x="8148637" y="6308725"/>
                </a:lnTo>
                <a:lnTo>
                  <a:pt x="0" y="6308725"/>
                </a:lnTo>
                <a:close/>
                <a:moveTo>
                  <a:pt x="0" y="0"/>
                </a:moveTo>
                <a:lnTo>
                  <a:pt x="8148637" y="0"/>
                </a:lnTo>
                <a:lnTo>
                  <a:pt x="8148637" y="539750"/>
                </a:lnTo>
                <a:lnTo>
                  <a:pt x="7612149" y="539750"/>
                </a:lnTo>
                <a:lnTo>
                  <a:pt x="7612149" y="2"/>
                </a:lnTo>
                <a:lnTo>
                  <a:pt x="7594149" y="2"/>
                </a:lnTo>
                <a:lnTo>
                  <a:pt x="7594149" y="539750"/>
                </a:lnTo>
                <a:lnTo>
                  <a:pt x="0" y="5397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CEEDBB-5DF7-28D1-F570-1960B42BBFF4}"/>
              </a:ext>
            </a:extLst>
          </p:cNvPr>
          <p:cNvSpPr/>
          <p:nvPr userDrawn="1"/>
        </p:nvSpPr>
        <p:spPr>
          <a:xfrm>
            <a:off x="0" y="0"/>
            <a:ext cx="422433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7AA46-D274-D262-C47E-B28F634341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2" y="1628190"/>
            <a:ext cx="3192175" cy="2006083"/>
          </a:xfrm>
        </p:spPr>
        <p:txBody>
          <a:bodyPr lIns="0" tIns="0" rIns="0" bIns="0"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899CD-4B9E-D93C-E898-1DCC451B09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3802645"/>
            <a:ext cx="3192174" cy="9419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Author(s)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3C307C1-F0F3-A2C5-82D4-47942653D3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972762"/>
            <a:ext cx="3192716" cy="39211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200" b="0">
                <a:solidFill>
                  <a:schemeClr val="accent1"/>
                </a:solidFill>
              </a:defRPr>
            </a:lvl2pPr>
            <a:lvl3pPr marL="914400" indent="0">
              <a:buNone/>
              <a:defRPr sz="1200" b="0">
                <a:solidFill>
                  <a:schemeClr val="accent1"/>
                </a:solidFill>
              </a:defRPr>
            </a:lvl3pPr>
            <a:lvl4pPr marL="1371600" indent="0">
              <a:buNone/>
              <a:defRPr sz="1200" b="0">
                <a:solidFill>
                  <a:schemeClr val="accent1"/>
                </a:solidFill>
              </a:defRPr>
            </a:lvl4pPr>
            <a:lvl5pPr marL="1828800" indent="0">
              <a:buNone/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Presenting at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342EDD-D820-9753-5F26-E34A92BE9A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5468062"/>
            <a:ext cx="3192716" cy="12495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  <a:lvl2pPr marL="457200" indent="0">
              <a:buNone/>
              <a:defRPr sz="1000">
                <a:solidFill>
                  <a:schemeClr val="accent1"/>
                </a:solidFill>
              </a:defRPr>
            </a:lvl2pPr>
            <a:lvl3pPr marL="914400" indent="0">
              <a:buNone/>
              <a:defRPr sz="1000">
                <a:solidFill>
                  <a:schemeClr val="accent1"/>
                </a:solidFill>
              </a:defRPr>
            </a:lvl3pPr>
            <a:lvl4pPr marL="1371600" indent="0">
              <a:buNone/>
              <a:defRPr sz="1000">
                <a:solidFill>
                  <a:schemeClr val="accent1"/>
                </a:solidFill>
              </a:defRPr>
            </a:lvl4pPr>
            <a:lvl5pPr marL="1828800" indent="0"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Date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BE8424-A7F1-9DD6-FC1B-7EFBAB3E4DB9}"/>
              </a:ext>
            </a:extLst>
          </p:cNvPr>
          <p:cNvSpPr/>
          <p:nvPr userDrawn="1"/>
        </p:nvSpPr>
        <p:spPr>
          <a:xfrm>
            <a:off x="4224338" y="6308725"/>
            <a:ext cx="7967662" cy="549275"/>
          </a:xfrm>
          <a:prstGeom prst="rect">
            <a:avLst/>
          </a:prstGeom>
          <a:gradFill>
            <a:gsLst>
              <a:gs pos="0">
                <a:schemeClr val="accent3"/>
              </a:gs>
              <a:gs pos="99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06D5CFE-AF0F-2B8C-E30C-D4554F26A4AC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246FC7-4736-E17B-D56C-E48B9E321D21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New Zealand Institute for Bioeconomy Science Limited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69C7B7E-FCA4-7513-B92D-D7C1EA7C65EF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71C1F2F-9AD3-452C-702D-0EA236A818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60260" y="469679"/>
            <a:ext cx="2031895" cy="7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29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lus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119A2FC-576C-445C-A1E2-A0FD558269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4338" y="0"/>
            <a:ext cx="7965898" cy="6308725"/>
          </a:xfrm>
          <a:custGeom>
            <a:avLst/>
            <a:gdLst>
              <a:gd name="connsiteX0" fmla="*/ 0 w 8148637"/>
              <a:gd name="connsiteY0" fmla="*/ 0 h 6308725"/>
              <a:gd name="connsiteX1" fmla="*/ 8148637 w 8148637"/>
              <a:gd name="connsiteY1" fmla="*/ 0 h 6308725"/>
              <a:gd name="connsiteX2" fmla="*/ 8148637 w 8148637"/>
              <a:gd name="connsiteY2" fmla="*/ 539750 h 6308725"/>
              <a:gd name="connsiteX3" fmla="*/ 7613913 w 8148637"/>
              <a:gd name="connsiteY3" fmla="*/ 539750 h 6308725"/>
              <a:gd name="connsiteX4" fmla="*/ 7613913 w 8148637"/>
              <a:gd name="connsiteY4" fmla="*/ 2 h 6308725"/>
              <a:gd name="connsiteX5" fmla="*/ 7595913 w 8148637"/>
              <a:gd name="connsiteY5" fmla="*/ 2 h 6308725"/>
              <a:gd name="connsiteX6" fmla="*/ 7595913 w 8148637"/>
              <a:gd name="connsiteY6" fmla="*/ 539750 h 6308725"/>
              <a:gd name="connsiteX7" fmla="*/ 1764 w 8148637"/>
              <a:gd name="connsiteY7" fmla="*/ 539750 h 6308725"/>
              <a:gd name="connsiteX8" fmla="*/ 1764 w 8148637"/>
              <a:gd name="connsiteY8" fmla="*/ 557750 h 6308725"/>
              <a:gd name="connsiteX9" fmla="*/ 7595913 w 8148637"/>
              <a:gd name="connsiteY9" fmla="*/ 557750 h 6308725"/>
              <a:gd name="connsiteX10" fmla="*/ 7595913 w 8148637"/>
              <a:gd name="connsiteY10" fmla="*/ 6308725 h 6308725"/>
              <a:gd name="connsiteX11" fmla="*/ 7613913 w 8148637"/>
              <a:gd name="connsiteY11" fmla="*/ 6308725 h 6308725"/>
              <a:gd name="connsiteX12" fmla="*/ 7613913 w 8148637"/>
              <a:gd name="connsiteY12" fmla="*/ 557750 h 6308725"/>
              <a:gd name="connsiteX13" fmla="*/ 8148637 w 8148637"/>
              <a:gd name="connsiteY13" fmla="*/ 557750 h 6308725"/>
              <a:gd name="connsiteX14" fmla="*/ 8148637 w 8148637"/>
              <a:gd name="connsiteY14" fmla="*/ 6308725 h 6308725"/>
              <a:gd name="connsiteX15" fmla="*/ 0 w 8148637"/>
              <a:gd name="connsiteY15" fmla="*/ 6308725 h 630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148637" h="6308725">
                <a:moveTo>
                  <a:pt x="0" y="0"/>
                </a:moveTo>
                <a:lnTo>
                  <a:pt x="8148637" y="0"/>
                </a:lnTo>
                <a:lnTo>
                  <a:pt x="8148637" y="539750"/>
                </a:lnTo>
                <a:lnTo>
                  <a:pt x="7613913" y="539750"/>
                </a:lnTo>
                <a:lnTo>
                  <a:pt x="7613913" y="2"/>
                </a:lnTo>
                <a:lnTo>
                  <a:pt x="7595913" y="2"/>
                </a:lnTo>
                <a:lnTo>
                  <a:pt x="7595913" y="539750"/>
                </a:lnTo>
                <a:lnTo>
                  <a:pt x="1764" y="539750"/>
                </a:lnTo>
                <a:lnTo>
                  <a:pt x="1764" y="557750"/>
                </a:lnTo>
                <a:lnTo>
                  <a:pt x="7595913" y="557750"/>
                </a:lnTo>
                <a:lnTo>
                  <a:pt x="7595913" y="6308725"/>
                </a:lnTo>
                <a:lnTo>
                  <a:pt x="7613913" y="6308725"/>
                </a:lnTo>
                <a:lnTo>
                  <a:pt x="7613913" y="557750"/>
                </a:lnTo>
                <a:lnTo>
                  <a:pt x="8148637" y="557750"/>
                </a:lnTo>
                <a:lnTo>
                  <a:pt x="8148637" y="6308725"/>
                </a:lnTo>
                <a:lnTo>
                  <a:pt x="0" y="63087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7AA46-D274-D262-C47E-B28F634341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4457" y="1628190"/>
            <a:ext cx="3193578" cy="2006083"/>
          </a:xfrm>
        </p:spPr>
        <p:txBody>
          <a:bodyPr lIns="0" tIns="0" rIns="0" bIns="0" anchor="b">
            <a:norm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899CD-4B9E-D93C-E898-1DCC451B09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457" y="3802645"/>
            <a:ext cx="3193577" cy="711113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 b="1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Author(s)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3C307C1-F0F3-A2C5-82D4-47942653D3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4459" y="4734510"/>
            <a:ext cx="3194119" cy="39211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 b="1">
                <a:solidFill>
                  <a:schemeClr val="tx2"/>
                </a:solidFill>
              </a:defRPr>
            </a:lvl1pPr>
            <a:lvl2pPr marL="457200" indent="0">
              <a:buNone/>
              <a:defRPr sz="1200" b="0">
                <a:solidFill>
                  <a:schemeClr val="accent1"/>
                </a:solidFill>
              </a:defRPr>
            </a:lvl2pPr>
            <a:lvl3pPr marL="914400" indent="0">
              <a:buNone/>
              <a:defRPr sz="1200" b="0">
                <a:solidFill>
                  <a:schemeClr val="accent1"/>
                </a:solidFill>
              </a:defRPr>
            </a:lvl3pPr>
            <a:lvl4pPr marL="1371600" indent="0">
              <a:buNone/>
              <a:defRPr sz="1200" b="0">
                <a:solidFill>
                  <a:schemeClr val="accent1"/>
                </a:solidFill>
              </a:defRPr>
            </a:lvl4pPr>
            <a:lvl5pPr marL="1828800" indent="0">
              <a:buNone/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Presenting at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342EDD-D820-9753-5F26-E34A92BE9A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4459" y="5229810"/>
            <a:ext cx="3194119" cy="12495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  <a:lvl2pPr marL="457200" indent="0">
              <a:buNone/>
              <a:defRPr sz="1000">
                <a:solidFill>
                  <a:schemeClr val="accent1"/>
                </a:solidFill>
              </a:defRPr>
            </a:lvl2pPr>
            <a:lvl3pPr marL="914400" indent="0">
              <a:buNone/>
              <a:defRPr sz="1000">
                <a:solidFill>
                  <a:schemeClr val="accent1"/>
                </a:solidFill>
              </a:defRPr>
            </a:lvl3pPr>
            <a:lvl4pPr marL="1371600" indent="0">
              <a:buNone/>
              <a:defRPr sz="1000">
                <a:solidFill>
                  <a:schemeClr val="accent1"/>
                </a:solidFill>
              </a:defRPr>
            </a:lvl4pPr>
            <a:lvl5pPr marL="1828800" indent="0"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Date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BE8424-A7F1-9DD6-FC1B-7EFBAB3E4DB9}"/>
              </a:ext>
            </a:extLst>
          </p:cNvPr>
          <p:cNvSpPr/>
          <p:nvPr userDrawn="1"/>
        </p:nvSpPr>
        <p:spPr>
          <a:xfrm>
            <a:off x="4224338" y="6308725"/>
            <a:ext cx="7967662" cy="549275"/>
          </a:xfrm>
          <a:prstGeom prst="rect">
            <a:avLst/>
          </a:prstGeom>
          <a:gradFill>
            <a:gsLst>
              <a:gs pos="0">
                <a:schemeClr val="accent3"/>
              </a:gs>
              <a:gs pos="99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EA0C7FE-EA56-102A-509B-31C0D0028E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6688" y="5613995"/>
            <a:ext cx="1393523" cy="511039"/>
          </a:xfrm>
        </p:spPr>
        <p:txBody>
          <a:bodyPr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Logo 1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618DE7A-F7FC-836E-BF08-9F297FA79F1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107059" y="5613995"/>
            <a:ext cx="1393523" cy="511039"/>
          </a:xfrm>
        </p:spPr>
        <p:txBody>
          <a:bodyPr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Logo 2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9426C97F-A747-E400-5AF2-E5618A496D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56688" y="6260482"/>
            <a:ext cx="1393523" cy="511039"/>
          </a:xfrm>
        </p:spPr>
        <p:txBody>
          <a:bodyPr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Logo 3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7301993-4B89-66E0-A41E-12D0F321D6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107059" y="6260482"/>
            <a:ext cx="1393523" cy="511039"/>
          </a:xfrm>
        </p:spPr>
        <p:txBody>
          <a:bodyPr>
            <a:norm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Logo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0A501E-69F6-63FF-3150-FA7C7991BF9B}"/>
              </a:ext>
            </a:extLst>
          </p:cNvPr>
          <p:cNvSpPr txBox="1"/>
          <p:nvPr userDrawn="1"/>
        </p:nvSpPr>
        <p:spPr>
          <a:xfrm>
            <a:off x="4224338" y="6499895"/>
            <a:ext cx="4332377" cy="200055"/>
          </a:xfrm>
          <a:prstGeom prst="rect">
            <a:avLst/>
          </a:prstGeom>
          <a:noFill/>
        </p:spPr>
        <p:txBody>
          <a:bodyPr wrap="square" lIns="288000" rIns="90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414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New Zealand Institute for Bioeconomy Science Limited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351BFD-4791-DE45-BA97-63E4DBD62613}"/>
              </a:ext>
            </a:extLst>
          </p:cNvPr>
          <p:cNvSpPr/>
          <p:nvPr userDrawn="1"/>
        </p:nvSpPr>
        <p:spPr>
          <a:xfrm>
            <a:off x="4333353" y="6558347"/>
            <a:ext cx="78485" cy="7848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3B556F-CDF0-4517-DC45-E603A94575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60260" y="469679"/>
            <a:ext cx="2031895" cy="77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331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la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E3B727-F2E3-57EC-2D8F-9F3251A7513B}"/>
              </a:ext>
            </a:extLst>
          </p:cNvPr>
          <p:cNvCxnSpPr>
            <a:cxnSpLocks/>
          </p:cNvCxnSpPr>
          <p:nvPr userDrawn="1"/>
        </p:nvCxnSpPr>
        <p:spPr>
          <a:xfrm>
            <a:off x="7523929" y="549275"/>
            <a:ext cx="466807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F6A52B-55C9-2FF8-760C-8A97A7872C26}"/>
              </a:ext>
            </a:extLst>
          </p:cNvPr>
          <p:cNvCxnSpPr>
            <a:cxnSpLocks/>
          </p:cNvCxnSpPr>
          <p:nvPr userDrawn="1"/>
        </p:nvCxnSpPr>
        <p:spPr>
          <a:xfrm>
            <a:off x="752477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867AA46-D274-D262-C47E-B28F6343416A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50862" y="1628190"/>
            <a:ext cx="5019944" cy="2006083"/>
          </a:xfrm>
        </p:spPr>
        <p:txBody>
          <a:bodyPr lIns="0" tIns="0" rIns="0" bIns="0"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899CD-4B9E-D93C-E898-1DCC451B0982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550863" y="3802645"/>
            <a:ext cx="5019942" cy="94197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2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Author(s)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3C307C1-F0F3-A2C5-82D4-47942653D35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50862" y="4972762"/>
            <a:ext cx="5020795" cy="39211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200" b="0">
                <a:solidFill>
                  <a:schemeClr val="accent1"/>
                </a:solidFill>
              </a:defRPr>
            </a:lvl2pPr>
            <a:lvl3pPr marL="914400" indent="0">
              <a:buNone/>
              <a:defRPr sz="1200" b="0">
                <a:solidFill>
                  <a:schemeClr val="accent1"/>
                </a:solidFill>
              </a:defRPr>
            </a:lvl3pPr>
            <a:lvl4pPr marL="1371600" indent="0">
              <a:buNone/>
              <a:defRPr sz="1200" b="0">
                <a:solidFill>
                  <a:schemeClr val="accent1"/>
                </a:solidFill>
              </a:defRPr>
            </a:lvl4pPr>
            <a:lvl5pPr marL="1828800" indent="0">
              <a:buNone/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Presenting at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342EDD-D820-9753-5F26-E34A92BE9A3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50862" y="5468062"/>
            <a:ext cx="5020795" cy="12495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>
                <a:solidFill>
                  <a:schemeClr val="accent1"/>
                </a:solidFill>
              </a:defRPr>
            </a:lvl1pPr>
            <a:lvl2pPr marL="457200" indent="0">
              <a:buNone/>
              <a:defRPr sz="1000">
                <a:solidFill>
                  <a:schemeClr val="accent1"/>
                </a:solidFill>
              </a:defRPr>
            </a:lvl2pPr>
            <a:lvl3pPr marL="914400" indent="0">
              <a:buNone/>
              <a:defRPr sz="1000">
                <a:solidFill>
                  <a:schemeClr val="accent1"/>
                </a:solidFill>
              </a:defRPr>
            </a:lvl3pPr>
            <a:lvl4pPr marL="1371600" indent="0">
              <a:buNone/>
              <a:defRPr sz="1000">
                <a:solidFill>
                  <a:schemeClr val="accent1"/>
                </a:solidFill>
              </a:defRPr>
            </a:lvl4pPr>
            <a:lvl5pPr marL="1828800" indent="0">
              <a:buNone/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Date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223176-A047-BFE4-420B-B03E59BD3A26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484831-BEE6-9145-39E2-85C41F14964A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New Zealand Institute for Bioeconomy Science Limited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DAE4C1D-1CE2-3865-A27F-B1B61A92C323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5FD7F5E-ADC4-BF70-471A-762F85E1FBF2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ADC082-1416-6D8F-F0D9-E675F9A04147}"/>
              </a:ext>
            </a:extLst>
          </p:cNvPr>
          <p:cNvGrpSpPr/>
          <p:nvPr userDrawn="1"/>
        </p:nvGrpSpPr>
        <p:grpSpPr>
          <a:xfrm>
            <a:off x="7523929" y="549274"/>
            <a:ext cx="4117208" cy="8220547"/>
            <a:chOff x="7932735" y="549275"/>
            <a:chExt cx="3708401" cy="740431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A8CF2F5-67BD-F6C4-8FDE-4D0313083E2D}"/>
                </a:ext>
              </a:extLst>
            </p:cNvPr>
            <p:cNvSpPr/>
            <p:nvPr userDrawn="1"/>
          </p:nvSpPr>
          <p:spPr>
            <a:xfrm>
              <a:off x="7932737" y="549275"/>
              <a:ext cx="3708399" cy="3708399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3429FE0-08CB-3B16-C64D-430DB4BD9921}"/>
                </a:ext>
              </a:extLst>
            </p:cNvPr>
            <p:cNvSpPr/>
            <p:nvPr userDrawn="1"/>
          </p:nvSpPr>
          <p:spPr>
            <a:xfrm>
              <a:off x="7932735" y="4257674"/>
              <a:ext cx="3695911" cy="3695911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3D57188-E874-2DF6-D4F6-1F30A6A942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60260" y="469679"/>
            <a:ext cx="2031895" cy="7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03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F6B7EED-F35C-A070-5BAE-0E60304F6F0A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9BC0B8-E2A8-05ED-F388-AD08AEC61CB9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98A527D-45B3-FB51-F329-0DC18165C2F1}"/>
              </a:ext>
            </a:extLst>
          </p:cNvPr>
          <p:cNvSpPr txBox="1">
            <a:spLocks/>
          </p:cNvSpPr>
          <p:nvPr userDrawn="1"/>
        </p:nvSpPr>
        <p:spPr>
          <a:xfrm>
            <a:off x="11698888" y="6378385"/>
            <a:ext cx="418323" cy="4211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B5F25F-645D-274D-A989-843CF92B2615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06F8B-560F-D50F-5FDC-5F1E04C3D207}"/>
              </a:ext>
            </a:extLst>
          </p:cNvPr>
          <p:cNvSpPr txBox="1"/>
          <p:nvPr userDrawn="1"/>
        </p:nvSpPr>
        <p:spPr>
          <a:xfrm>
            <a:off x="437848" y="4178564"/>
            <a:ext cx="100828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2000" spc="-150" baseline="0">
                <a:solidFill>
                  <a:schemeClr val="accent1"/>
                </a:solidFill>
                <a:latin typeface="+mj-lt"/>
              </a:rPr>
              <a:t>Thank you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3D9D15-7F36-9D37-5E3C-7697643565DF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72069E-EB5E-03BE-97F3-87CC796F5B8C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New Zealand Institute for Bioeconomy Science Limited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25A618D-DB02-4DF6-1296-CD1F337DC275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4DD316-0B71-7242-E473-59CF816835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32738" y="549275"/>
            <a:ext cx="3708400" cy="191169"/>
          </a:xfrm>
        </p:spPr>
        <p:txBody>
          <a:bodyPr>
            <a:noAutofit/>
          </a:bodyPr>
          <a:lstStyle>
            <a:lvl1pPr marL="0" indent="0" algn="r">
              <a:buNone/>
              <a:defRPr sz="1400" b="1">
                <a:solidFill>
                  <a:schemeClr val="accent1"/>
                </a:solidFill>
              </a:defRPr>
            </a:lvl1pPr>
            <a:lvl2pPr marL="457200" indent="0">
              <a:buNone/>
              <a:defRPr sz="1600">
                <a:solidFill>
                  <a:schemeClr val="accent1"/>
                </a:solidFill>
              </a:defRPr>
            </a:lvl2pPr>
            <a:lvl3pPr marL="914400" indent="0">
              <a:buNone/>
              <a:defRPr sz="1600">
                <a:solidFill>
                  <a:schemeClr val="accent1"/>
                </a:solidFill>
              </a:defRPr>
            </a:lvl3pPr>
            <a:lvl4pPr marL="1371600" indent="0">
              <a:buNone/>
              <a:defRPr sz="1600">
                <a:solidFill>
                  <a:schemeClr val="accent1"/>
                </a:solidFill>
              </a:defRPr>
            </a:lvl4pPr>
            <a:lvl5pPr marL="1828800" indent="0">
              <a:buNone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Author@email.co.nz</a:t>
            </a:r>
            <a:endParaRPr lang="en-NZ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F7656E-272A-0D20-F779-A51C7CFEEA59}"/>
              </a:ext>
            </a:extLst>
          </p:cNvPr>
          <p:cNvSpPr txBox="1"/>
          <p:nvPr userDrawn="1"/>
        </p:nvSpPr>
        <p:spPr>
          <a:xfrm>
            <a:off x="7932738" y="931613"/>
            <a:ext cx="3708399" cy="1661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bioeconomyscience.co.nz</a:t>
            </a:r>
            <a:endParaRPr kumimoji="0" lang="en-NZ" sz="12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55079B4-2C14-D20D-3B82-68F6134F8F41}"/>
              </a:ext>
            </a:extLst>
          </p:cNvPr>
          <p:cNvGrpSpPr/>
          <p:nvPr userDrawn="1"/>
        </p:nvGrpSpPr>
        <p:grpSpPr>
          <a:xfrm>
            <a:off x="10103677" y="1212482"/>
            <a:ext cx="1537460" cy="229483"/>
            <a:chOff x="4483196" y="3124173"/>
            <a:chExt cx="1537460" cy="229483"/>
          </a:xfrm>
        </p:grpSpPr>
        <p:pic>
          <p:nvPicPr>
            <p:cNvPr id="18" name="Picture 17" descr="A butterfly in a circle&#10;&#10;AI-generated content may be incorrect.">
              <a:extLst>
                <a:ext uri="{FF2B5EF4-FFF2-40B4-BE49-F238E27FC236}">
                  <a16:creationId xmlns:a16="http://schemas.microsoft.com/office/drawing/2014/main" id="{FE5FB563-C00B-8470-42A5-077A9F6FDF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91173" y="3124173"/>
              <a:ext cx="229483" cy="229483"/>
            </a:xfrm>
            <a:prstGeom prst="rect">
              <a:avLst/>
            </a:prstGeom>
          </p:spPr>
        </p:pic>
        <p:pic>
          <p:nvPicPr>
            <p:cNvPr id="20" name="Picture 19" descr="A green circle with a letter f in it&#10;&#10;AI-generated content may be incorrect.">
              <a:extLst>
                <a:ext uri="{FF2B5EF4-FFF2-40B4-BE49-F238E27FC236}">
                  <a16:creationId xmlns:a16="http://schemas.microsoft.com/office/drawing/2014/main" id="{0332E294-B554-EDCB-70FA-E8A60D6B04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64178" y="3124173"/>
              <a:ext cx="229483" cy="229483"/>
            </a:xfrm>
            <a:prstGeom prst="rect">
              <a:avLst/>
            </a:prstGeom>
          </p:spPr>
        </p:pic>
        <p:pic>
          <p:nvPicPr>
            <p:cNvPr id="22" name="Picture 21" descr="A logo of a camera&#10;&#10;AI-generated content may be incorrect.">
              <a:extLst>
                <a:ext uri="{FF2B5EF4-FFF2-40B4-BE49-F238E27FC236}">
                  <a16:creationId xmlns:a16="http://schemas.microsoft.com/office/drawing/2014/main" id="{0D38F47C-5093-24AC-A111-37C0DF5D49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83196" y="3124173"/>
              <a:ext cx="229483" cy="229483"/>
            </a:xfrm>
            <a:prstGeom prst="rect">
              <a:avLst/>
            </a:prstGeom>
          </p:spPr>
        </p:pic>
        <p:pic>
          <p:nvPicPr>
            <p:cNvPr id="24" name="Picture 23" descr="A green circle with black text&#10;&#10;AI-generated content may be incorrect.">
              <a:extLst>
                <a:ext uri="{FF2B5EF4-FFF2-40B4-BE49-F238E27FC236}">
                  <a16:creationId xmlns:a16="http://schemas.microsoft.com/office/drawing/2014/main" id="{961EB180-A327-2F57-0CEE-5A54E3A191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10190" y="3124173"/>
              <a:ext cx="229483" cy="229483"/>
            </a:xfrm>
            <a:prstGeom prst="rect">
              <a:avLst/>
            </a:prstGeom>
          </p:spPr>
        </p:pic>
        <p:pic>
          <p:nvPicPr>
            <p:cNvPr id="26" name="Picture 25" descr="A blue play button in a green circle&#10;&#10;AI-generated content may be incorrect.">
              <a:extLst>
                <a:ext uri="{FF2B5EF4-FFF2-40B4-BE49-F238E27FC236}">
                  <a16:creationId xmlns:a16="http://schemas.microsoft.com/office/drawing/2014/main" id="{86CD649E-EC47-4F4D-73E0-33861A3808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37184" y="3124173"/>
              <a:ext cx="229483" cy="229483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DAFE458-B21D-6353-F118-93CDD7C0A39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460260" y="469679"/>
            <a:ext cx="2031895" cy="7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47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9370E-3A3D-2550-303D-225709DBC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001777"/>
            <a:ext cx="7561261" cy="2852737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F6B7EED-F35C-A070-5BAE-0E60304F6F0A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9BC0B8-E2A8-05ED-F388-AD08AEC61CB9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98A527D-45B3-FB51-F329-0DC18165C2F1}"/>
              </a:ext>
            </a:extLst>
          </p:cNvPr>
          <p:cNvSpPr txBox="1">
            <a:spLocks/>
          </p:cNvSpPr>
          <p:nvPr userDrawn="1"/>
        </p:nvSpPr>
        <p:spPr>
          <a:xfrm>
            <a:off x="11698888" y="6378385"/>
            <a:ext cx="418323" cy="4211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B5F25F-645D-274D-A989-843CF92B2615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BC2337-7E2A-F3F2-2F05-46F709BCF1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52"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1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9370E-3A3D-2550-303D-225709DBC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001777"/>
            <a:ext cx="7561262" cy="2852737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F6B7EED-F35C-A070-5BAE-0E60304F6F0A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9BC0B8-E2A8-05ED-F388-AD08AEC61CB9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B198CF1-3999-8337-27E1-BD2BD6CC95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65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531E-B520-8B19-6C9F-4A99F365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0071063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1B86-2293-C76F-46B3-7F20C630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245F4C-4868-7B74-333B-2A77B9ECB833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D7B295-43BB-99EE-4252-24A7209B13AC}"/>
              </a:ext>
            </a:extLst>
          </p:cNvPr>
          <p:cNvCxnSpPr/>
          <p:nvPr userDrawn="1"/>
        </p:nvCxnSpPr>
        <p:spPr>
          <a:xfrm>
            <a:off x="11641138" y="6308725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5814C004-DBCD-CAD8-BB7C-58F0F9DC70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FA8BBC-64E1-7820-38E0-70E61AE824E9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F4D780E-AD6B-F084-8273-C5127F5C27C5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06E9016-6FDA-126C-66E3-58954C1279C7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9348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yellow"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531E-B520-8B19-6C9F-4A99F365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0071063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1B86-2293-C76F-46B3-7F20C630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245F4C-4868-7B74-333B-2A77B9ECB833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D7B295-43BB-99EE-4252-24A7209B13AC}"/>
              </a:ext>
            </a:extLst>
          </p:cNvPr>
          <p:cNvCxnSpPr/>
          <p:nvPr userDrawn="1"/>
        </p:nvCxnSpPr>
        <p:spPr>
          <a:xfrm>
            <a:off x="11641138" y="6308725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5814C004-DBCD-CAD8-BB7C-58F0F9DC70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46A7F85-D22A-6BF2-AB8C-8FBEFE3C6899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051998-F335-340D-96E6-C1B566F1E07C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34E44AB-FEF0-5EAD-E1EC-F45146EF7A9B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8396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green">
    <p:bg>
      <p:bgPr>
        <a:solidFill>
          <a:schemeClr val="accent1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531E-B520-8B19-6C9F-4A99F365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0071063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1B86-2293-C76F-46B3-7F20C630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245F4C-4868-7B74-333B-2A77B9ECB833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D7B295-43BB-99EE-4252-24A7209B13AC}"/>
              </a:ext>
            </a:extLst>
          </p:cNvPr>
          <p:cNvCxnSpPr/>
          <p:nvPr userDrawn="1"/>
        </p:nvCxnSpPr>
        <p:spPr>
          <a:xfrm>
            <a:off x="11641138" y="6308725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5814C004-DBCD-CAD8-BB7C-58F0F9DC70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060151D-E6C3-0F05-4B52-01A2FC47BE3A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9A90EE-9EFA-E455-8DE9-C90C4DC449D1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8588549-A65B-14BC-1845-627519F35BFF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0231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white">
    <p:bg>
      <p:bgPr>
        <a:solidFill>
          <a:schemeClr val="bg1">
            <a:alpha val="501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531E-B520-8B19-6C9F-4A99F365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0071063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1B86-2293-C76F-46B3-7F20C630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245F4C-4868-7B74-333B-2A77B9ECB833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CD7B295-43BB-99EE-4252-24A7209B13AC}"/>
              </a:ext>
            </a:extLst>
          </p:cNvPr>
          <p:cNvCxnSpPr/>
          <p:nvPr userDrawn="1"/>
        </p:nvCxnSpPr>
        <p:spPr>
          <a:xfrm>
            <a:off x="11641138" y="6308725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5814C004-DBCD-CAD8-BB7C-58F0F9DC70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2F67BD1-35E2-C567-622B-6FDDAB31F0CD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BC2369-2442-7476-FE22-09AC9169CC49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F77067C-0B75-1EAB-1D3A-BCE640D5904B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2531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_third_blue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531E-B520-8B19-6C9F-4A99F365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7010401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1B86-2293-C76F-46B3-7F20C630E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825625"/>
            <a:ext cx="70104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245F4C-4868-7B74-333B-2A77B9ECB833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C770080-7375-5121-3D5B-8F69FCC7D2A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932737" y="549275"/>
            <a:ext cx="4334599" cy="5759450"/>
          </a:xfrm>
          <a:ln w="12700">
            <a:solidFill>
              <a:schemeClr val="tx2"/>
            </a:solidFill>
          </a:ln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6A9F24-E5AD-4D24-2B7C-B1086A221166}"/>
              </a:ext>
            </a:extLst>
          </p:cNvPr>
          <p:cNvCxnSpPr>
            <a:cxnSpLocks/>
          </p:cNvCxnSpPr>
          <p:nvPr userDrawn="1"/>
        </p:nvCxnSpPr>
        <p:spPr>
          <a:xfrm flipV="1">
            <a:off x="7932738" y="0"/>
            <a:ext cx="0" cy="6858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C1FB41-D345-9874-A369-638F191C8E8C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FAF25CA4-CF30-EF19-724B-322A953DDFEB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B1B65F-30C7-39C4-735D-9EF277ADA16F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4EB3723-B80C-8DE3-F19B-3E35B6157BBF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199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_third_yellow"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531E-B520-8B19-6C9F-4A99F365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7010401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1B86-2293-C76F-46B3-7F20C630E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825625"/>
            <a:ext cx="70104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245F4C-4868-7B74-333B-2A77B9ECB833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C770080-7375-5121-3D5B-8F69FCC7D2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32737" y="549275"/>
            <a:ext cx="4344877" cy="5759450"/>
          </a:xfrm>
          <a:ln w="12700">
            <a:solidFill>
              <a:schemeClr val="tx2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6A9F24-E5AD-4D24-2B7C-B1086A221166}"/>
              </a:ext>
            </a:extLst>
          </p:cNvPr>
          <p:cNvCxnSpPr>
            <a:cxnSpLocks/>
          </p:cNvCxnSpPr>
          <p:nvPr userDrawn="1"/>
        </p:nvCxnSpPr>
        <p:spPr>
          <a:xfrm flipV="1">
            <a:off x="7932738" y="0"/>
            <a:ext cx="0" cy="6858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C1FB41-D345-9874-A369-638F191C8E8C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A12DBA57-72FD-F226-0C4D-3E8DF8273E5A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B7AF25-EF66-0E17-75AB-0AF3A1654856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01B54C1-D0AC-01A1-8EFC-F454C61EB28C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23667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_third_green">
    <p:bg>
      <p:bgPr>
        <a:solidFill>
          <a:schemeClr val="accent1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531E-B520-8B19-6C9F-4A99F365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7010401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1B86-2293-C76F-46B3-7F20C630E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825625"/>
            <a:ext cx="70104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245F4C-4868-7B74-333B-2A77B9ECB833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C770080-7375-5121-3D5B-8F69FCC7D2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32737" y="549275"/>
            <a:ext cx="4355149" cy="5759450"/>
          </a:xfrm>
          <a:ln w="12700">
            <a:solidFill>
              <a:schemeClr val="tx2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6A9F24-E5AD-4D24-2B7C-B1086A221166}"/>
              </a:ext>
            </a:extLst>
          </p:cNvPr>
          <p:cNvCxnSpPr>
            <a:cxnSpLocks/>
          </p:cNvCxnSpPr>
          <p:nvPr userDrawn="1"/>
        </p:nvCxnSpPr>
        <p:spPr>
          <a:xfrm flipV="1">
            <a:off x="7932738" y="0"/>
            <a:ext cx="0" cy="6858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C1FB41-D345-9874-A369-638F191C8E8C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87CBC5A-B897-4400-D63E-48A7A8D027B9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04EED1-C7FA-9695-6F62-0A8776F23697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2AC219E-5A25-4E20-E20B-EBC561B59581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596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_third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531E-B520-8B19-6C9F-4A99F365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7010401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1B86-2293-C76F-46B3-7F20C630E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825625"/>
            <a:ext cx="70104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245F4C-4868-7B74-333B-2A77B9ECB833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C770080-7375-5121-3D5B-8F69FCC7D2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32737" y="549275"/>
            <a:ext cx="4344873" cy="5759450"/>
          </a:xfrm>
          <a:ln w="12700">
            <a:solidFill>
              <a:schemeClr val="tx2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6A9F24-E5AD-4D24-2B7C-B1086A221166}"/>
              </a:ext>
            </a:extLst>
          </p:cNvPr>
          <p:cNvCxnSpPr>
            <a:cxnSpLocks/>
          </p:cNvCxnSpPr>
          <p:nvPr userDrawn="1"/>
        </p:nvCxnSpPr>
        <p:spPr>
          <a:xfrm flipV="1">
            <a:off x="7932738" y="0"/>
            <a:ext cx="0" cy="6858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C1FB41-D345-9874-A369-638F191C8E8C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3FEFCB9-30F9-628B-F53A-5DD12C7D1AE2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77C419-678A-D24E-9BAB-66F30F9062C0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77C6F51-4944-F24A-1704-F0F25A38281B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66639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_half_blue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531E-B520-8B19-6C9F-4A99F365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5156601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1B86-2293-C76F-46B3-7F20C630E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825625"/>
            <a:ext cx="5156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245F4C-4868-7B74-333B-2A77B9ECB833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C770080-7375-5121-3D5B-8F69FCC7D2A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109153" y="549275"/>
            <a:ext cx="6109151" cy="5759450"/>
          </a:xfrm>
          <a:ln w="12700">
            <a:solidFill>
              <a:schemeClr val="tx2"/>
            </a:solidFill>
          </a:ln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6A9F24-E5AD-4D24-2B7C-B1086A221166}"/>
              </a:ext>
            </a:extLst>
          </p:cNvPr>
          <p:cNvCxnSpPr>
            <a:cxnSpLocks/>
          </p:cNvCxnSpPr>
          <p:nvPr userDrawn="1"/>
        </p:nvCxnSpPr>
        <p:spPr>
          <a:xfrm flipV="1">
            <a:off x="6109154" y="0"/>
            <a:ext cx="0" cy="6858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C1FB41-D345-9874-A369-638F191C8E8C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9D204A5-14F2-5D2E-361B-40B2615943A2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EB797B-2725-05BF-B935-D2DF4DFB77EC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304B8BA-7FC7-F660-3973-389166564CF3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8339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_half_yellow"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531E-B520-8B19-6C9F-4A99F365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5156601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1B86-2293-C76F-46B3-7F20C630E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825625"/>
            <a:ext cx="5156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245F4C-4868-7B74-333B-2A77B9ECB833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C770080-7375-5121-3D5B-8F69FCC7D2A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109153" y="549275"/>
            <a:ext cx="6109151" cy="5759450"/>
          </a:xfrm>
          <a:ln w="12700">
            <a:solidFill>
              <a:schemeClr val="tx2"/>
            </a:solidFill>
          </a:ln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6A9F24-E5AD-4D24-2B7C-B1086A221166}"/>
              </a:ext>
            </a:extLst>
          </p:cNvPr>
          <p:cNvCxnSpPr>
            <a:cxnSpLocks/>
          </p:cNvCxnSpPr>
          <p:nvPr userDrawn="1"/>
        </p:nvCxnSpPr>
        <p:spPr>
          <a:xfrm flipV="1">
            <a:off x="6109154" y="0"/>
            <a:ext cx="0" cy="6858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C1FB41-D345-9874-A369-638F191C8E8C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9D204A5-14F2-5D2E-361B-40B2615943A2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EB797B-2725-05BF-B935-D2DF4DFB77EC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304B8BA-7FC7-F660-3973-389166564CF3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767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_half_green">
    <p:bg>
      <p:bgPr>
        <a:solidFill>
          <a:schemeClr val="accent1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531E-B520-8B19-6C9F-4A99F365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5156601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1B86-2293-C76F-46B3-7F20C630E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825625"/>
            <a:ext cx="5156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245F4C-4868-7B74-333B-2A77B9ECB833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C770080-7375-5121-3D5B-8F69FCC7D2A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109153" y="549275"/>
            <a:ext cx="6109151" cy="5759450"/>
          </a:xfrm>
          <a:ln w="12700">
            <a:solidFill>
              <a:schemeClr val="tx2"/>
            </a:solidFill>
          </a:ln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6A9F24-E5AD-4D24-2B7C-B1086A221166}"/>
              </a:ext>
            </a:extLst>
          </p:cNvPr>
          <p:cNvCxnSpPr>
            <a:cxnSpLocks/>
          </p:cNvCxnSpPr>
          <p:nvPr userDrawn="1"/>
        </p:nvCxnSpPr>
        <p:spPr>
          <a:xfrm flipV="1">
            <a:off x="6109154" y="0"/>
            <a:ext cx="0" cy="6858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C1FB41-D345-9874-A369-638F191C8E8C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9D204A5-14F2-5D2E-361B-40B2615943A2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EB797B-2725-05BF-B935-D2DF4DFB77EC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304B8BA-7FC7-F660-3973-389166564CF3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1953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_half_white">
    <p:bg>
      <p:bgPr>
        <a:solidFill>
          <a:schemeClr val="bg1">
            <a:alpha val="50032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531E-B520-8B19-6C9F-4A99F365D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5156601" cy="11414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1B86-2293-C76F-46B3-7F20C630E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825625"/>
            <a:ext cx="51566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245F4C-4868-7B74-333B-2A77B9ECB833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C770080-7375-5121-3D5B-8F69FCC7D2A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109153" y="549275"/>
            <a:ext cx="6109151" cy="5759450"/>
          </a:xfrm>
          <a:ln w="12700">
            <a:solidFill>
              <a:schemeClr val="tx2"/>
            </a:solidFill>
          </a:ln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6A9F24-E5AD-4D24-2B7C-B1086A221166}"/>
              </a:ext>
            </a:extLst>
          </p:cNvPr>
          <p:cNvCxnSpPr>
            <a:cxnSpLocks/>
          </p:cNvCxnSpPr>
          <p:nvPr userDrawn="1"/>
        </p:nvCxnSpPr>
        <p:spPr>
          <a:xfrm flipV="1">
            <a:off x="6109154" y="0"/>
            <a:ext cx="0" cy="685800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C1FB41-D345-9874-A369-638F191C8E8C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9D204A5-14F2-5D2E-361B-40B2615943A2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EB797B-2725-05BF-B935-D2DF4DFB77EC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304B8BA-7FC7-F660-3973-389166564CF3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1420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D928-7B84-3AE2-B93A-512967F78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0062341" cy="10432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2F918C-7EEC-515F-6EEA-5CB85D3504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750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yellow"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D928-7B84-3AE2-B93A-512967F78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0062341" cy="10432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2F918C-7EEC-515F-6EEA-5CB85D3504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272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green">
    <p:bg>
      <p:bgPr>
        <a:solidFill>
          <a:schemeClr val="accent1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D928-7B84-3AE2-B93A-512967F78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0062341" cy="10432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2F918C-7EEC-515F-6EEA-5CB85D3504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3610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D928-7B84-3AE2-B93A-512967F78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0062341" cy="10432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2F918C-7EEC-515F-6EEA-5CB85D3504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157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_blue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7B4D-87D6-0EB0-911C-7B87D1B1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0062341" cy="1094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D8328-ABB3-7D5A-6425-F60665861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825625"/>
            <a:ext cx="3558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F902F-E629-787C-F24D-7D06EA960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7465" y="1825625"/>
            <a:ext cx="346089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D2BD1C-C14D-6502-0910-790FC66B148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46162" y="1825625"/>
            <a:ext cx="359497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215A53-11C4-07CD-67A6-BE28D0822365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160C4F-5971-8392-9D00-5634C9A87FE9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2F4DED9-37B5-9D88-6FC2-AF1A4EA930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BED8B7B-795E-11DC-78EB-AC0888622471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C3A7DE-94F7-1A5E-52E5-00349C2D9087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A74ABA4-BEDD-0DB1-68EF-7087F4CE6DBB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76335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_yellow"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7B4D-87D6-0EB0-911C-7B87D1B1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0062341" cy="1094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D8328-ABB3-7D5A-6425-F60665861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825625"/>
            <a:ext cx="3558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F902F-E629-787C-F24D-7D06EA960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7465" y="1825625"/>
            <a:ext cx="346089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D2BD1C-C14D-6502-0910-790FC66B148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46162" y="1825625"/>
            <a:ext cx="359497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215A53-11C4-07CD-67A6-BE28D0822365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160C4F-5971-8392-9D00-5634C9A87FE9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2F4DED9-37B5-9D88-6FC2-AF1A4EA930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BED8B7B-795E-11DC-78EB-AC0888622471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C3A7DE-94F7-1A5E-52E5-00349C2D9087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A74ABA4-BEDD-0DB1-68EF-7087F4CE6DBB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4947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_green">
    <p:bg>
      <p:bgPr>
        <a:solidFill>
          <a:schemeClr val="accent1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7B4D-87D6-0EB0-911C-7B87D1B1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0062341" cy="1094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D8328-ABB3-7D5A-6425-F60665861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825625"/>
            <a:ext cx="3558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F902F-E629-787C-F24D-7D06EA960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7465" y="1825625"/>
            <a:ext cx="346089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D2BD1C-C14D-6502-0910-790FC66B148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46162" y="1825625"/>
            <a:ext cx="359497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215A53-11C4-07CD-67A6-BE28D0822365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160C4F-5971-8392-9D00-5634C9A87FE9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2F4DED9-37B5-9D88-6FC2-AF1A4EA930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BED8B7B-795E-11DC-78EB-AC0888622471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C3A7DE-94F7-1A5E-52E5-00349C2D9087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A74ABA4-BEDD-0DB1-68EF-7087F4CE6DBB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32512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7B4D-87D6-0EB0-911C-7B87D1B1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0062341" cy="10945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D8328-ABB3-7D5A-6425-F60665861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825625"/>
            <a:ext cx="3558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F902F-E629-787C-F24D-7D06EA960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7465" y="1825625"/>
            <a:ext cx="346089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D2BD1C-C14D-6502-0910-790FC66B148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46162" y="1825625"/>
            <a:ext cx="359497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5215A53-11C4-07CD-67A6-BE28D0822365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160C4F-5971-8392-9D00-5634C9A87FE9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2F4DED9-37B5-9D88-6FC2-AF1A4EA930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BED8B7B-795E-11DC-78EB-AC0888622471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C3A7DE-94F7-1A5E-52E5-00349C2D9087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A74ABA4-BEDD-0DB1-68EF-7087F4CE6DBB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47309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_blue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64EC-79EF-56A0-6520-DDF46D72E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0062341" cy="10432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62DD6-F8C0-DAF2-B89F-4CE5C154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681163"/>
            <a:ext cx="539701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ADFF6-03B7-D405-49F3-294BC1C35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05075"/>
            <a:ext cx="539701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1DFFB4-FE0F-7CCD-7BDC-3120E4A4F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4118" y="1681163"/>
            <a:ext cx="53970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B9D00-AFA6-3511-DF2F-2140AC5AD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4118" y="2505075"/>
            <a:ext cx="539702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DCA94E-4448-5D0A-3AC7-90BE3E41A49F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6615B9-A87D-427F-FED5-AFBA953FE92A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310C156-1246-B241-97F4-F53B86846F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25381F0-BC0C-4617-CF7F-4F07D4761307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8E6020-980B-918E-C0E8-F335BBCC418A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846A1F-1D7E-BDD7-2A7A-9C219AD2636C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03618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_yellow"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64EC-79EF-56A0-6520-DDF46D72E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0062341" cy="10432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62DD6-F8C0-DAF2-B89F-4CE5C154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681163"/>
            <a:ext cx="539701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ADFF6-03B7-D405-49F3-294BC1C35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05075"/>
            <a:ext cx="539701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1DFFB4-FE0F-7CCD-7BDC-3120E4A4F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4118" y="1681163"/>
            <a:ext cx="53970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B9D00-AFA6-3511-DF2F-2140AC5AD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4118" y="2505075"/>
            <a:ext cx="539702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DCA94E-4448-5D0A-3AC7-90BE3E41A49F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6615B9-A87D-427F-FED5-AFBA953FE92A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310C156-1246-B241-97F4-F53B86846F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25381F0-BC0C-4617-CF7F-4F07D4761307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8E6020-980B-918E-C0E8-F335BBCC418A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846A1F-1D7E-BDD7-2A7A-9C219AD2636C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46311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_green">
    <p:bg>
      <p:bgPr>
        <a:solidFill>
          <a:schemeClr val="accent1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64EC-79EF-56A0-6520-DDF46D72E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0062341" cy="10432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62DD6-F8C0-DAF2-B89F-4CE5C154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681163"/>
            <a:ext cx="539701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ADFF6-03B7-D405-49F3-294BC1C35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05075"/>
            <a:ext cx="539701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1DFFB4-FE0F-7CCD-7BDC-3120E4A4F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4118" y="1681163"/>
            <a:ext cx="53970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B9D00-AFA6-3511-DF2F-2140AC5AD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4118" y="2505075"/>
            <a:ext cx="539702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DCA94E-4448-5D0A-3AC7-90BE3E41A49F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6615B9-A87D-427F-FED5-AFBA953FE92A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310C156-1246-B241-97F4-F53B86846F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25381F0-BC0C-4617-CF7F-4F07D4761307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8E6020-980B-918E-C0E8-F335BBCC418A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846A1F-1D7E-BDD7-2A7A-9C219AD2636C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40669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64EC-79EF-56A0-6520-DDF46D72E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0062341" cy="10432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62DD6-F8C0-DAF2-B89F-4CE5C1548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681163"/>
            <a:ext cx="539701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ADFF6-03B7-D405-49F3-294BC1C35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05075"/>
            <a:ext cx="539701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1DFFB4-FE0F-7CCD-7BDC-3120E4A4F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4118" y="1681163"/>
            <a:ext cx="53970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B9D00-AFA6-3511-DF2F-2140AC5AD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4118" y="2505075"/>
            <a:ext cx="539702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DCA94E-4448-5D0A-3AC7-90BE3E41A49F}"/>
              </a:ext>
            </a:extLst>
          </p:cNvPr>
          <p:cNvCxnSpPr>
            <a:cxnSpLocks/>
          </p:cNvCxnSpPr>
          <p:nvPr userDrawn="1"/>
        </p:nvCxnSpPr>
        <p:spPr>
          <a:xfrm>
            <a:off x="0" y="6308725"/>
            <a:ext cx="12192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6615B9-A87D-427F-FED5-AFBA953FE92A}"/>
              </a:ext>
            </a:extLst>
          </p:cNvPr>
          <p:cNvCxnSpPr>
            <a:cxnSpLocks/>
          </p:cNvCxnSpPr>
          <p:nvPr userDrawn="1"/>
        </p:nvCxnSpPr>
        <p:spPr>
          <a:xfrm>
            <a:off x="11641138" y="6312783"/>
            <a:ext cx="0" cy="5492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3310C156-1246-B241-97F4-F53B86846F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140151" y="549275"/>
            <a:ext cx="500987" cy="49076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25381F0-BC0C-4617-CF7F-4F07D4761307}"/>
              </a:ext>
            </a:extLst>
          </p:cNvPr>
          <p:cNvGrpSpPr/>
          <p:nvPr userDrawn="1"/>
        </p:nvGrpSpPr>
        <p:grpSpPr>
          <a:xfrm>
            <a:off x="454339" y="6499895"/>
            <a:ext cx="4332377" cy="200055"/>
            <a:chOff x="4041600" y="6499895"/>
            <a:chExt cx="4332377" cy="20005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98E6020-980B-918E-C0E8-F335BBCC418A}"/>
                </a:ext>
              </a:extLst>
            </p:cNvPr>
            <p:cNvSpPr txBox="1"/>
            <p:nvPr userDrawn="1"/>
          </p:nvSpPr>
          <p:spPr>
            <a:xfrm>
              <a:off x="4041600" y="6499895"/>
              <a:ext cx="4332377" cy="200055"/>
            </a:xfrm>
            <a:prstGeom prst="rect">
              <a:avLst/>
            </a:prstGeom>
            <a:noFill/>
          </p:spPr>
          <p:txBody>
            <a:bodyPr wrap="square" lIns="288000" rIns="90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Bioeconomy Science Institute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846A1F-1D7E-BDD7-2A7A-9C219AD2636C}"/>
                </a:ext>
              </a:extLst>
            </p:cNvPr>
            <p:cNvSpPr/>
            <p:nvPr userDrawn="1"/>
          </p:nvSpPr>
          <p:spPr>
            <a:xfrm>
              <a:off x="4150615" y="6558347"/>
              <a:ext cx="78485" cy="7848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87587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3228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yellow"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57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green">
    <p:bg>
      <p:bgPr>
        <a:solidFill>
          <a:schemeClr val="accent1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2858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480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A275856-2CFB-B780-FC19-88B7C01E42E0}"/>
              </a:ext>
            </a:extLst>
          </p:cNvPr>
          <p:cNvSpPr/>
          <p:nvPr/>
        </p:nvSpPr>
        <p:spPr>
          <a:xfrm rot="15188171">
            <a:off x="4142225" y="5336077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950976"/>
            <a:ext cx="4349424" cy="1459193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EC1C24B-FC0E-135D-8291-8585F4AB4E1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405" y="2544807"/>
            <a:ext cx="3945827" cy="3785880"/>
          </a:xfrm>
          <a:custGeom>
            <a:avLst/>
            <a:gdLst>
              <a:gd name="connsiteX0" fmla="*/ 3930446 w 3945827"/>
              <a:gd name="connsiteY0" fmla="*/ 5 h 3785880"/>
              <a:gd name="connsiteX1" fmla="*/ 3932537 w 3945827"/>
              <a:gd name="connsiteY1" fmla="*/ 2321853 h 3785880"/>
              <a:gd name="connsiteX2" fmla="*/ 3929331 w 3945827"/>
              <a:gd name="connsiteY2" fmla="*/ 2513782 h 3785880"/>
              <a:gd name="connsiteX3" fmla="*/ 3900283 w 3945827"/>
              <a:gd name="connsiteY3" fmla="*/ 2517711 h 3785880"/>
              <a:gd name="connsiteX4" fmla="*/ 3732592 w 3945827"/>
              <a:gd name="connsiteY4" fmla="*/ 2566596 h 3785880"/>
              <a:gd name="connsiteX5" fmla="*/ 3857855 w 3945827"/>
              <a:gd name="connsiteY5" fmla="*/ 3004249 h 3785880"/>
              <a:gd name="connsiteX6" fmla="*/ 3915181 w 3945827"/>
              <a:gd name="connsiteY6" fmla="*/ 3212343 h 3785880"/>
              <a:gd name="connsiteX7" fmla="*/ 3914595 w 3945827"/>
              <a:gd name="connsiteY7" fmla="*/ 3236939 h 3785880"/>
              <a:gd name="connsiteX8" fmla="*/ 3900838 w 3945827"/>
              <a:gd name="connsiteY8" fmla="*/ 3696910 h 3785880"/>
              <a:gd name="connsiteX9" fmla="*/ 8317 w 3945827"/>
              <a:gd name="connsiteY9" fmla="*/ 3776554 h 3785880"/>
              <a:gd name="connsiteX10" fmla="*/ 0 w 3945827"/>
              <a:gd name="connsiteY10" fmla="*/ 26202 h 3785880"/>
              <a:gd name="connsiteX11" fmla="*/ 3930446 w 3945827"/>
              <a:gd name="connsiteY11" fmla="*/ 5 h 378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5827" h="3785880">
                <a:moveTo>
                  <a:pt x="3930446" y="5"/>
                </a:moveTo>
                <a:cubicBezTo>
                  <a:pt x="3953664" y="277596"/>
                  <a:pt x="3947436" y="1365687"/>
                  <a:pt x="3932537" y="2321853"/>
                </a:cubicBezTo>
                <a:lnTo>
                  <a:pt x="3929331" y="2513782"/>
                </a:lnTo>
                <a:lnTo>
                  <a:pt x="3900283" y="2517711"/>
                </a:lnTo>
                <a:cubicBezTo>
                  <a:pt x="3806046" y="2534538"/>
                  <a:pt x="3731946" y="2555635"/>
                  <a:pt x="3732592" y="2566596"/>
                </a:cubicBezTo>
                <a:cubicBezTo>
                  <a:pt x="3776426" y="2711503"/>
                  <a:pt x="3817487" y="2857713"/>
                  <a:pt x="3857855" y="3004249"/>
                </a:cubicBezTo>
                <a:lnTo>
                  <a:pt x="3915181" y="3212343"/>
                </a:lnTo>
                <a:lnTo>
                  <a:pt x="3914595" y="3236939"/>
                </a:lnTo>
                <a:cubicBezTo>
                  <a:pt x="3909989" y="3424032"/>
                  <a:pt x="3905295" y="3582264"/>
                  <a:pt x="3900838" y="3696910"/>
                </a:cubicBezTo>
                <a:cubicBezTo>
                  <a:pt x="3115719" y="3744071"/>
                  <a:pt x="2227881" y="3810572"/>
                  <a:pt x="8317" y="3776554"/>
                </a:cubicBezTo>
                <a:lnTo>
                  <a:pt x="0" y="26202"/>
                </a:lnTo>
                <a:cubicBezTo>
                  <a:pt x="1014177" y="12710"/>
                  <a:pt x="2624398" y="-292"/>
                  <a:pt x="3930446" y="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6183" y="944438"/>
            <a:ext cx="5533139" cy="516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21CBE7-6D9B-6B2C-C966-8648A2E7A1CA}"/>
              </a:ext>
            </a:extLst>
          </p:cNvPr>
          <p:cNvGrpSpPr/>
          <p:nvPr/>
        </p:nvGrpSpPr>
        <p:grpSpPr>
          <a:xfrm flipH="1">
            <a:off x="4730639" y="5777681"/>
            <a:ext cx="606354" cy="325031"/>
            <a:chOff x="5447388" y="3100610"/>
            <a:chExt cx="1500891" cy="8045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E4226C8-2B8E-5AC8-728A-78B5565C314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7B4108-EFE6-C034-14E5-AD8762C57AE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CA12CD5-15A1-5DF3-3002-D94BA8525437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59B618-9140-3A26-D6E4-E60015045E3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DD5363-CFEA-1DE8-4F60-B84E4BB6EBEA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805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7C98E3D-BC2C-B926-A031-D91A7117D9AE}"/>
              </a:ext>
            </a:extLst>
          </p:cNvPr>
          <p:cNvSpPr txBox="1">
            <a:spLocks/>
          </p:cNvSpPr>
          <p:nvPr userDrawn="1"/>
        </p:nvSpPr>
        <p:spPr>
          <a:xfrm>
            <a:off x="11698888" y="6378385"/>
            <a:ext cx="418323" cy="4211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B5F25F-645D-274D-A989-843CF92B26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EA33CD-622C-C289-A780-2CC8C119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114141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648CE-43B0-690E-8E5F-424937CDE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825625"/>
            <a:ext cx="11090275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42E479-E478-6B13-974B-1BB9505A4963}"/>
              </a:ext>
            </a:extLst>
          </p:cNvPr>
          <p:cNvSpPr txBox="1"/>
          <p:nvPr userDrawn="1"/>
        </p:nvSpPr>
        <p:spPr>
          <a:xfrm>
            <a:off x="1907037" y="65866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6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66" r:id="rId2"/>
    <p:sldLayoutId id="2147483668" r:id="rId3"/>
    <p:sldLayoutId id="2147483669" r:id="rId4"/>
    <p:sldLayoutId id="2147483663" r:id="rId5"/>
    <p:sldLayoutId id="2147483662" r:id="rId6"/>
    <p:sldLayoutId id="2147483664" r:id="rId7"/>
    <p:sldLayoutId id="2147483683" r:id="rId8"/>
    <p:sldLayoutId id="2147483681" r:id="rId9"/>
    <p:sldLayoutId id="2147483682" r:id="rId10"/>
    <p:sldLayoutId id="2147483650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9" r:id="rId19"/>
    <p:sldLayoutId id="2147483686" r:id="rId20"/>
    <p:sldLayoutId id="2147483687" r:id="rId21"/>
    <p:sldLayoutId id="2147483688" r:id="rId22"/>
    <p:sldLayoutId id="2147483684" r:id="rId23"/>
    <p:sldLayoutId id="2147483694" r:id="rId24"/>
    <p:sldLayoutId id="2147483695" r:id="rId25"/>
    <p:sldLayoutId id="2147483654" r:id="rId26"/>
    <p:sldLayoutId id="2147483652" r:id="rId27"/>
    <p:sldLayoutId id="2147483689" r:id="rId28"/>
    <p:sldLayoutId id="2147483690" r:id="rId29"/>
    <p:sldLayoutId id="2147483685" r:id="rId30"/>
    <p:sldLayoutId id="2147483691" r:id="rId31"/>
    <p:sldLayoutId id="2147483692" r:id="rId32"/>
    <p:sldLayoutId id="2147483693" r:id="rId33"/>
    <p:sldLayoutId id="2147483653" r:id="rId34"/>
    <p:sldLayoutId id="2147483655" r:id="rId35"/>
    <p:sldLayoutId id="2147483697" r:id="rId36"/>
    <p:sldLayoutId id="2147483698" r:id="rId37"/>
    <p:sldLayoutId id="2147483696" r:id="rId38"/>
    <p:sldLayoutId id="2147483700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6" userDrawn="1">
          <p15:clr>
            <a:srgbClr val="F26B43"/>
          </p15:clr>
        </p15:guide>
        <p15:guide id="2" orient="horz" pos="3974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347" userDrawn="1">
          <p15:clr>
            <a:srgbClr val="F26B43"/>
          </p15:clr>
        </p15:guide>
        <p15:guide id="5" pos="2661" userDrawn="1">
          <p15:clr>
            <a:srgbClr val="A4A3A4"/>
          </p15:clr>
        </p15:guide>
        <p15:guide id="6" pos="4997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bud/biosecurity-symposium" TargetMode="External"/><Relationship Id="rId2" Type="http://schemas.openxmlformats.org/officeDocument/2006/relationships/hyperlink" Target="https://cbud.github.io/biosecurity-symposium/" TargetMode="Externa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0.jpeg"/><Relationship Id="rId4" Type="http://schemas.openxmlformats.org/officeDocument/2006/relationships/hyperlink" Target="https://github.com/cbud/biosecurity-symposium/archive/refs/heads/main.zi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bud/biosecurity-symposium/blob/main/AI%20biosecurity%20workshop%20generalized.R" TargetMode="External"/><Relationship Id="rId2" Type="http://schemas.openxmlformats.org/officeDocument/2006/relationships/hyperlink" Target="https://github.com/cbud/biosecurity-symposium/blob/main/corpus/scopus_sample_data_set.xlsx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github.com/cbud/biosecurity-symposium/blob/main/functions/f_get_gbif_backbone_ids_from_df.R" TargetMode="External"/><Relationship Id="rId5" Type="http://schemas.openxmlformats.org/officeDocument/2006/relationships/hyperlink" Target="https://github.com/cbud/biosecurity-symposium/blob/main/functions/f_ai_text_analysis.R" TargetMode="External"/><Relationship Id="rId4" Type="http://schemas.openxmlformats.org/officeDocument/2006/relationships/hyperlink" Target="https://github.com/cbud/biosecurity-symposium/blob/main/prompts/prompt_1.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AB332F59-546C-9A88-4216-154C5B0EC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2" r="9274" b="-1"/>
          <a:stretch>
            <a:fillRect/>
          </a:stretch>
        </p:blipFill>
        <p:spPr bwMode="auto">
          <a:xfrm>
            <a:off x="4224338" y="10"/>
            <a:ext cx="7967662" cy="6308715"/>
          </a:xfrm>
          <a:custGeom>
            <a:avLst/>
            <a:gdLst>
              <a:gd name="connsiteX0" fmla="*/ 0 w 8148637"/>
              <a:gd name="connsiteY0" fmla="*/ 557750 h 6308725"/>
              <a:gd name="connsiteX1" fmla="*/ 7594149 w 8148637"/>
              <a:gd name="connsiteY1" fmla="*/ 557750 h 6308725"/>
              <a:gd name="connsiteX2" fmla="*/ 7594149 w 8148637"/>
              <a:gd name="connsiteY2" fmla="*/ 6308725 h 6308725"/>
              <a:gd name="connsiteX3" fmla="*/ 7612149 w 8148637"/>
              <a:gd name="connsiteY3" fmla="*/ 6308725 h 6308725"/>
              <a:gd name="connsiteX4" fmla="*/ 7612149 w 8148637"/>
              <a:gd name="connsiteY4" fmla="*/ 557750 h 6308725"/>
              <a:gd name="connsiteX5" fmla="*/ 8148637 w 8148637"/>
              <a:gd name="connsiteY5" fmla="*/ 557750 h 6308725"/>
              <a:gd name="connsiteX6" fmla="*/ 8148637 w 8148637"/>
              <a:gd name="connsiteY6" fmla="*/ 6308725 h 6308725"/>
              <a:gd name="connsiteX7" fmla="*/ 0 w 8148637"/>
              <a:gd name="connsiteY7" fmla="*/ 6308725 h 6308725"/>
              <a:gd name="connsiteX8" fmla="*/ 0 w 8148637"/>
              <a:gd name="connsiteY8" fmla="*/ 0 h 6308725"/>
              <a:gd name="connsiteX9" fmla="*/ 8148637 w 8148637"/>
              <a:gd name="connsiteY9" fmla="*/ 0 h 6308725"/>
              <a:gd name="connsiteX10" fmla="*/ 8148637 w 8148637"/>
              <a:gd name="connsiteY10" fmla="*/ 539750 h 6308725"/>
              <a:gd name="connsiteX11" fmla="*/ 7612149 w 8148637"/>
              <a:gd name="connsiteY11" fmla="*/ 539750 h 6308725"/>
              <a:gd name="connsiteX12" fmla="*/ 7612149 w 8148637"/>
              <a:gd name="connsiteY12" fmla="*/ 2 h 6308725"/>
              <a:gd name="connsiteX13" fmla="*/ 7594149 w 8148637"/>
              <a:gd name="connsiteY13" fmla="*/ 2 h 6308725"/>
              <a:gd name="connsiteX14" fmla="*/ 7594149 w 8148637"/>
              <a:gd name="connsiteY14" fmla="*/ 539750 h 6308725"/>
              <a:gd name="connsiteX15" fmla="*/ 0 w 8148637"/>
              <a:gd name="connsiteY15" fmla="*/ 539750 h 630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148637" h="6308725">
                <a:moveTo>
                  <a:pt x="0" y="557750"/>
                </a:moveTo>
                <a:lnTo>
                  <a:pt x="7594149" y="557750"/>
                </a:lnTo>
                <a:lnTo>
                  <a:pt x="7594149" y="6308725"/>
                </a:lnTo>
                <a:lnTo>
                  <a:pt x="7612149" y="6308725"/>
                </a:lnTo>
                <a:lnTo>
                  <a:pt x="7612149" y="557750"/>
                </a:lnTo>
                <a:lnTo>
                  <a:pt x="8148637" y="557750"/>
                </a:lnTo>
                <a:lnTo>
                  <a:pt x="8148637" y="6308725"/>
                </a:lnTo>
                <a:lnTo>
                  <a:pt x="0" y="6308725"/>
                </a:lnTo>
                <a:close/>
                <a:moveTo>
                  <a:pt x="0" y="0"/>
                </a:moveTo>
                <a:lnTo>
                  <a:pt x="8148637" y="0"/>
                </a:lnTo>
                <a:lnTo>
                  <a:pt x="8148637" y="539750"/>
                </a:lnTo>
                <a:lnTo>
                  <a:pt x="7612149" y="539750"/>
                </a:lnTo>
                <a:lnTo>
                  <a:pt x="7612149" y="2"/>
                </a:lnTo>
                <a:lnTo>
                  <a:pt x="7594149" y="2"/>
                </a:lnTo>
                <a:lnTo>
                  <a:pt x="7594149" y="539750"/>
                </a:lnTo>
                <a:lnTo>
                  <a:pt x="0" y="539750"/>
                </a:lnTo>
                <a:close/>
              </a:path>
            </a:pathLst>
          </a:custGeom>
          <a:solidFill>
            <a:srgbClr val="FFFFFF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5FF826-8A63-48DA-1A41-2434CC4FD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837" y="1264979"/>
            <a:ext cx="4120501" cy="1630621"/>
          </a:xfrm>
        </p:spPr>
        <p:txBody>
          <a:bodyPr anchor="t">
            <a:normAutofit fontScale="90000"/>
          </a:bodyPr>
          <a:lstStyle/>
          <a:p>
            <a:r>
              <a:rPr lang="en-NZ" sz="3600" b="1" dirty="0"/>
              <a:t>LLM based extraction of biosecurity data from a corpus</a:t>
            </a:r>
            <a:endParaRPr lang="en-NZ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024C2A-64F5-5828-A941-8CB2602EF6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837" y="3329916"/>
            <a:ext cx="3801413" cy="1264969"/>
          </a:xfrm>
        </p:spPr>
        <p:txBody>
          <a:bodyPr>
            <a:normAutofit/>
          </a:bodyPr>
          <a:lstStyle/>
          <a:p>
            <a:r>
              <a:rPr lang="en-NZ" i="1" u="sng" dirty="0"/>
              <a:t>Christopher E. Buddenhagen</a:t>
            </a:r>
            <a:endParaRPr lang="en-NZ" i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3634-02FF-5CBC-3E68-33A8388521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3" y="5468062"/>
            <a:ext cx="3192716" cy="124959"/>
          </a:xfrm>
        </p:spPr>
        <p:txBody>
          <a:bodyPr>
            <a:normAutofit/>
          </a:bodyPr>
          <a:lstStyle/>
          <a:p>
            <a:r>
              <a:rPr lang="en-NZ" sz="900"/>
              <a:t>18 June 2026 1020 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808E08-893C-41EC-0333-B311D8605E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NZ" dirty="0"/>
              <a:t>Hawaii Biosecurity Symposium Workshop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8B02C-19EC-1846-3FD8-F6A1944CEA34}"/>
              </a:ext>
            </a:extLst>
          </p:cNvPr>
          <p:cNvSpPr txBox="1"/>
          <p:nvPr/>
        </p:nvSpPr>
        <p:spPr>
          <a:xfrm>
            <a:off x="10468451" y="6419850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i="1"/>
              <a:t>Chloris </a:t>
            </a:r>
            <a:r>
              <a:rPr lang="en-NZ" i="1" err="1"/>
              <a:t>gayana</a:t>
            </a:r>
            <a:endParaRPr lang="en-NZ" i="1"/>
          </a:p>
        </p:txBody>
      </p:sp>
    </p:spTree>
    <p:extLst>
      <p:ext uri="{BB962C8B-B14F-4D97-AF65-F5344CB8AC3E}">
        <p14:creationId xmlns:p14="http://schemas.microsoft.com/office/powerpoint/2010/main" val="4238207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BD077109-56CE-2CF4-FEDC-FAD8807FC5B4}"/>
              </a:ext>
            </a:extLst>
          </p:cNvPr>
          <p:cNvSpPr/>
          <p:nvPr/>
        </p:nvSpPr>
        <p:spPr>
          <a:xfrm rot="729875">
            <a:off x="10243341" y="894040"/>
            <a:ext cx="1784694" cy="341879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E2D447-5965-1A99-A126-73D228072C03}"/>
              </a:ext>
            </a:extLst>
          </p:cNvPr>
          <p:cNvSpPr/>
          <p:nvPr/>
        </p:nvSpPr>
        <p:spPr>
          <a:xfrm>
            <a:off x="9819461" y="2913214"/>
            <a:ext cx="1433632" cy="16725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A320B1-8C02-7DA7-2817-38B6D149E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5156601" cy="1141413"/>
          </a:xfrm>
        </p:spPr>
        <p:txBody>
          <a:bodyPr anchor="t">
            <a:normAutofit/>
          </a:bodyPr>
          <a:lstStyle/>
          <a:p>
            <a:r>
              <a:rPr lang="en-NZ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C726F-5684-959D-62E4-D5DA003BA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825625"/>
            <a:ext cx="5156601" cy="4351338"/>
          </a:xfrm>
        </p:spPr>
        <p:txBody>
          <a:bodyPr>
            <a:normAutofit/>
          </a:bodyPr>
          <a:lstStyle/>
          <a:p>
            <a:r>
              <a:rPr lang="en-US" sz="1500" dirty="0"/>
              <a:t>Workshop Purpose</a:t>
            </a:r>
          </a:p>
          <a:p>
            <a:pPr marL="742950" lvl="1" indent="-285750"/>
            <a:r>
              <a:rPr lang="en-US" sz="1500" dirty="0"/>
              <a:t>Introduce use of large language models to extract structured biosecurity (or any) data from scientific literature efficiently.</a:t>
            </a:r>
          </a:p>
          <a:p>
            <a:r>
              <a:rPr lang="en-US" sz="1500" dirty="0"/>
              <a:t>Hands-on Pipeline Execution</a:t>
            </a:r>
          </a:p>
          <a:p>
            <a:pPr marL="742950" lvl="1" indent="-285750"/>
            <a:r>
              <a:rPr lang="en-US" sz="1500" dirty="0"/>
              <a:t>Participants configure and run a general R pipeline with example datasets and documented scripts.</a:t>
            </a:r>
          </a:p>
          <a:p>
            <a:r>
              <a:rPr lang="en-US" sz="1500" dirty="0"/>
              <a:t>Workshop Structure</a:t>
            </a:r>
          </a:p>
          <a:p>
            <a:pPr marL="742950" lvl="1" indent="-285750"/>
            <a:r>
              <a:rPr lang="en-US" sz="1500" dirty="0"/>
              <a:t>Quickly cover background, motivation, pipeline overview, guided execution, and output interpretation.</a:t>
            </a:r>
          </a:p>
          <a:p>
            <a:r>
              <a:rPr lang="en-US" sz="1500" dirty="0"/>
              <a:t>Expected Outcomes</a:t>
            </a:r>
          </a:p>
          <a:p>
            <a:pPr marL="742950" lvl="1" indent="-285750"/>
            <a:r>
              <a:rPr lang="en-US" sz="1500" dirty="0"/>
              <a:t>Understand pipeline functionality, inputs, outputs, and adaptation for biosecurity questions.</a:t>
            </a:r>
          </a:p>
          <a:p>
            <a:endParaRPr lang="en-NZ" sz="1500" dirty="0"/>
          </a:p>
        </p:txBody>
      </p:sp>
      <p:pic>
        <p:nvPicPr>
          <p:cNvPr id="5" name="Picture Placeholder 4" descr="Aspiration with solid fill">
            <a:extLst>
              <a:ext uri="{FF2B5EF4-FFF2-40B4-BE49-F238E27FC236}">
                <a16:creationId xmlns:a16="http://schemas.microsoft.com/office/drawing/2014/main" id="{A9DC52F3-67A5-51C3-79CD-9D2ABF6C2A6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871" b="2871"/>
          <a:stretch/>
        </p:blipFill>
        <p:spPr>
          <a:xfrm>
            <a:off x="6109153" y="549819"/>
            <a:ext cx="6109151" cy="5758362"/>
          </a:xfrm>
        </p:spPr>
      </p:pic>
    </p:spTree>
    <p:extLst>
      <p:ext uri="{BB962C8B-B14F-4D97-AF65-F5344CB8AC3E}">
        <p14:creationId xmlns:p14="http://schemas.microsoft.com/office/powerpoint/2010/main" val="2248694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AF0A-86BE-961F-B835-BED6AA5E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Using API for AI prompt completion -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8466E-C277-6076-0566-3288C5AAC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436" y="2000250"/>
            <a:ext cx="4522581" cy="3771899"/>
          </a:xfrm>
        </p:spPr>
        <p:txBody>
          <a:bodyPr>
            <a:normAutofit/>
          </a:bodyPr>
          <a:lstStyle/>
          <a:p>
            <a:r>
              <a:rPr lang="en-NZ" sz="2000"/>
              <a:t>Identify hazards (species) of concern</a:t>
            </a:r>
          </a:p>
          <a:p>
            <a:r>
              <a:rPr lang="en-NZ" sz="2000"/>
              <a:t>Location</a:t>
            </a:r>
          </a:p>
          <a:p>
            <a:r>
              <a:rPr lang="en-NZ" sz="2000"/>
              <a:t>Host-pest relationships</a:t>
            </a:r>
          </a:p>
          <a:p>
            <a:r>
              <a:rPr lang="en-NZ" sz="2000"/>
              <a:t>Habitat</a:t>
            </a:r>
          </a:p>
          <a:p>
            <a:r>
              <a:rPr lang="en-NZ" sz="2000"/>
              <a:t>Impact</a:t>
            </a:r>
          </a:p>
          <a:p>
            <a:r>
              <a:rPr lang="en-NZ" sz="2000"/>
              <a:t>Types of weeds/invaders</a:t>
            </a:r>
          </a:p>
          <a:p>
            <a:endParaRPr lang="en-NZ" dirty="0"/>
          </a:p>
          <a:p>
            <a:endParaRPr lang="en-NZ" dirty="0"/>
          </a:p>
          <a:p>
            <a:endParaRPr lang="en-NZ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12A5BE-667B-5734-39C4-116DF3854F94}"/>
              </a:ext>
            </a:extLst>
          </p:cNvPr>
          <p:cNvSpPr/>
          <p:nvPr/>
        </p:nvSpPr>
        <p:spPr>
          <a:xfrm>
            <a:off x="6015319" y="1407459"/>
            <a:ext cx="1694329" cy="1443317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/>
              <a:t>Corpus</a:t>
            </a:r>
          </a:p>
          <a:p>
            <a:pPr algn="ctr"/>
            <a:r>
              <a:rPr lang="en-NZ" err="1"/>
              <a:t>Title_abstract</a:t>
            </a:r>
            <a:endParaRPr lang="en-NZ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88EE18-D880-9C9D-CEA0-BDB4BA76196D}"/>
              </a:ext>
            </a:extLst>
          </p:cNvPr>
          <p:cNvSpPr/>
          <p:nvPr/>
        </p:nvSpPr>
        <p:spPr>
          <a:xfrm>
            <a:off x="6060142" y="3599330"/>
            <a:ext cx="1604682" cy="157246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/>
              <a:t>Prompts</a:t>
            </a:r>
          </a:p>
        </p:txBody>
      </p:sp>
      <p:sp>
        <p:nvSpPr>
          <p:cNvPr id="6" name="Flowchart: Predefined Process 5">
            <a:extLst>
              <a:ext uri="{FF2B5EF4-FFF2-40B4-BE49-F238E27FC236}">
                <a16:creationId xmlns:a16="http://schemas.microsoft.com/office/drawing/2014/main" id="{11B1D4AB-3B8C-6B8A-0319-67C9FC56C2E0}"/>
              </a:ext>
            </a:extLst>
          </p:cNvPr>
          <p:cNvSpPr/>
          <p:nvPr/>
        </p:nvSpPr>
        <p:spPr>
          <a:xfrm>
            <a:off x="8143810" y="1891553"/>
            <a:ext cx="1340849" cy="2617694"/>
          </a:xfrm>
          <a:prstGeom prst="flowChartPredefined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/>
              <a:t>OpenAI</a:t>
            </a:r>
          </a:p>
          <a:p>
            <a:pPr algn="ctr"/>
            <a:r>
              <a:rPr lang="en-NZ"/>
              <a:t>model</a:t>
            </a:r>
          </a:p>
          <a:p>
            <a:pPr algn="ctr"/>
            <a:r>
              <a:rPr lang="en-NZ"/>
              <a:t>gpt-4o-mini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7C25E1E2-2811-E2B8-AE5E-01DE2E7441F7}"/>
              </a:ext>
            </a:extLst>
          </p:cNvPr>
          <p:cNvSpPr/>
          <p:nvPr/>
        </p:nvSpPr>
        <p:spPr>
          <a:xfrm>
            <a:off x="10039219" y="2402542"/>
            <a:ext cx="1713509" cy="1425388"/>
          </a:xfrm>
          <a:prstGeom prst="flowChartAlternateProcess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/>
              <a:t>Extracted information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ABA39AA-308E-8D98-EC56-CE790701C781}"/>
              </a:ext>
            </a:extLst>
          </p:cNvPr>
          <p:cNvSpPr/>
          <p:nvPr/>
        </p:nvSpPr>
        <p:spPr>
          <a:xfrm>
            <a:off x="9592235" y="3003176"/>
            <a:ext cx="371410" cy="2779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40F77D9-BCF5-0168-BED9-935D5FF1B9BE}"/>
              </a:ext>
            </a:extLst>
          </p:cNvPr>
          <p:cNvSpPr/>
          <p:nvPr/>
        </p:nvSpPr>
        <p:spPr>
          <a:xfrm>
            <a:off x="7498977" y="3115236"/>
            <a:ext cx="331694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pic>
        <p:nvPicPr>
          <p:cNvPr id="1026" name="Picture 2" descr="R (programming language) - Wikipedia">
            <a:extLst>
              <a:ext uri="{FF2B5EF4-FFF2-40B4-BE49-F238E27FC236}">
                <a16:creationId xmlns:a16="http://schemas.microsoft.com/office/drawing/2014/main" id="{8360ED5F-C413-ADA2-3ADC-23B87300D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76" y="2966181"/>
            <a:ext cx="753380" cy="58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BAD276EF-74F4-93F9-0133-28027F24EFD2}"/>
              </a:ext>
            </a:extLst>
          </p:cNvPr>
          <p:cNvSpPr/>
          <p:nvPr/>
        </p:nvSpPr>
        <p:spPr>
          <a:xfrm>
            <a:off x="6620437" y="2926976"/>
            <a:ext cx="457200" cy="596154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42DC314-4F89-BB60-7775-D39F0DD8503A}"/>
              </a:ext>
            </a:extLst>
          </p:cNvPr>
          <p:cNvSpPr/>
          <p:nvPr/>
        </p:nvSpPr>
        <p:spPr>
          <a:xfrm>
            <a:off x="7497055" y="4868676"/>
            <a:ext cx="2312894" cy="13267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/>
              <a:t>GBIF taxonomy</a:t>
            </a:r>
          </a:p>
        </p:txBody>
      </p:sp>
    </p:spTree>
    <p:extLst>
      <p:ext uri="{BB962C8B-B14F-4D97-AF65-F5344CB8AC3E}">
        <p14:creationId xmlns:p14="http://schemas.microsoft.com/office/powerpoint/2010/main" val="261697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77E9-F5BB-332E-E9AA-24DCB1D42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5156601" cy="1141413"/>
          </a:xfrm>
        </p:spPr>
        <p:txBody>
          <a:bodyPr anchor="t">
            <a:normAutofit/>
          </a:bodyPr>
          <a:lstStyle/>
          <a:p>
            <a:r>
              <a:rPr lang="en-NZ" dirty="0"/>
              <a:t>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5CCBC-5223-852C-5EAA-B3778E02B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825625"/>
            <a:ext cx="5156601" cy="4351338"/>
          </a:xfrm>
        </p:spPr>
        <p:txBody>
          <a:bodyPr>
            <a:normAutofit/>
          </a:bodyPr>
          <a:lstStyle/>
          <a:p>
            <a:r>
              <a:rPr lang="en-NZ" dirty="0"/>
              <a:t>LLM API options are many, </a:t>
            </a:r>
            <a:r>
              <a:rPr lang="en-NZ" b="1" dirty="0"/>
              <a:t>OpenAI,</a:t>
            </a:r>
            <a:r>
              <a:rPr lang="en-NZ" dirty="0"/>
              <a:t> </a:t>
            </a:r>
            <a:r>
              <a:rPr lang="en-NZ" dirty="0" err="1"/>
              <a:t>Ollama</a:t>
            </a:r>
            <a:r>
              <a:rPr lang="en-NZ" dirty="0"/>
              <a:t>, Gemini, Claude etc</a:t>
            </a:r>
          </a:p>
          <a:p>
            <a:r>
              <a:rPr lang="en-NZ" dirty="0"/>
              <a:t>Chat completion</a:t>
            </a:r>
          </a:p>
          <a:p>
            <a:r>
              <a:rPr lang="en-NZ" dirty="0"/>
              <a:t>Tokens</a:t>
            </a:r>
          </a:p>
          <a:p>
            <a:r>
              <a:rPr lang="en-NZ" dirty="0"/>
              <a:t>Model choice gpt-4o-mini vs newer ones</a:t>
            </a:r>
          </a:p>
          <a:p>
            <a:endParaRPr lang="en-NZ" dirty="0"/>
          </a:p>
          <a:p>
            <a:endParaRPr lang="en-NZ" dirty="0"/>
          </a:p>
        </p:txBody>
      </p:sp>
      <p:pic>
        <p:nvPicPr>
          <p:cNvPr id="1028" name="Picture 4" descr="What is a Large Language Model (LLM) - Daily Dose Of AI">
            <a:extLst>
              <a:ext uri="{FF2B5EF4-FFF2-40B4-BE49-F238E27FC236}">
                <a16:creationId xmlns:a16="http://schemas.microsoft.com/office/drawing/2014/main" id="{5924E5AD-313C-C031-2EEC-C56F0D556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7028" y="1903463"/>
            <a:ext cx="6109151" cy="3207304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DA89E2C-2906-B2C7-A64F-F86B71C21862}"/>
              </a:ext>
            </a:extLst>
          </p:cNvPr>
          <p:cNvSpPr/>
          <p:nvPr/>
        </p:nvSpPr>
        <p:spPr>
          <a:xfrm>
            <a:off x="6338236" y="3099335"/>
            <a:ext cx="1155031" cy="981777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5942601-DE30-D6FD-9FB0-8FDDE9A6B041}"/>
              </a:ext>
            </a:extLst>
          </p:cNvPr>
          <p:cNvSpPr/>
          <p:nvPr/>
        </p:nvSpPr>
        <p:spPr>
          <a:xfrm>
            <a:off x="10281491" y="2309766"/>
            <a:ext cx="1155031" cy="981777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02727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6B97F-FB23-BD3D-D3B2-B2F16FC1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Turning Unstructured Text into Structured Biosecurity Data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2F7A4-8053-58C6-759C-24F1A79C9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Automating Text Extraction</a:t>
            </a:r>
          </a:p>
          <a:p>
            <a:pPr marL="742950" lvl="1" indent="-285750"/>
            <a:r>
              <a:rPr lang="en-US" dirty="0"/>
              <a:t>Large language models automate extraction of key biosecurity info from scientific text efficiently.</a:t>
            </a:r>
          </a:p>
          <a:p>
            <a:r>
              <a:rPr lang="en-US" dirty="0"/>
              <a:t>Structured Data Output</a:t>
            </a:r>
          </a:p>
          <a:p>
            <a:pPr marL="742950" lvl="1" indent="-285750"/>
            <a:r>
              <a:rPr lang="en-US" dirty="0"/>
              <a:t>Constrained, human-readable outputs enable easy storage and analysis using standard data </a:t>
            </a:r>
            <a:r>
              <a:rPr lang="en-US" dirty="0" err="1"/>
              <a:t>tools→R</a:t>
            </a:r>
            <a:r>
              <a:rPr lang="en-US" dirty="0"/>
              <a:t> in this case.</a:t>
            </a:r>
          </a:p>
          <a:p>
            <a:r>
              <a:rPr lang="en-US" dirty="0"/>
              <a:t>Supporting Not Replacing Expert Judgement</a:t>
            </a:r>
          </a:p>
          <a:p>
            <a:pPr marL="742950" lvl="1" indent="-285750"/>
            <a:r>
              <a:rPr lang="en-US" dirty="0"/>
              <a:t>This approach enhances expert review by triaging literature and highlighting critical species and topics.</a:t>
            </a:r>
          </a:p>
          <a:p>
            <a:r>
              <a:rPr lang="en-US" dirty="0"/>
              <a:t>Biosecurity Applications</a:t>
            </a:r>
          </a:p>
          <a:p>
            <a:pPr marL="742950" lvl="1" indent="-285750"/>
            <a:r>
              <a:rPr lang="en-US" dirty="0"/>
              <a:t>Technique supports hazard identification, evidence gathering, and prioritization in biosecurity contexts</a:t>
            </a:r>
            <a:endParaRPr lang="en-NZ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D80B85D-ACF3-6D01-D2BC-EA5A297196C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21782" r="21782"/>
          <a:stretch>
            <a:fillRect/>
          </a:stretch>
        </p:blipFill>
        <p:spPr>
          <a:xfrm>
            <a:off x="7939347" y="98966"/>
            <a:ext cx="4334599" cy="5759450"/>
          </a:xfrm>
          <a:prstGeom prst="rect">
            <a:avLst/>
          </a:prstGeom>
          <a:ln w="12700">
            <a:noFill/>
          </a:ln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464141D8-6BB2-185F-AE86-ED991636074E}"/>
              </a:ext>
            </a:extLst>
          </p:cNvPr>
          <p:cNvSpPr/>
          <p:nvPr/>
        </p:nvSpPr>
        <p:spPr>
          <a:xfrm>
            <a:off x="9782700" y="4224150"/>
            <a:ext cx="363003" cy="6203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1CF4F-B87B-EF24-27D5-61B1E26CC12F}"/>
              </a:ext>
            </a:extLst>
          </p:cNvPr>
          <p:cNvSpPr txBox="1"/>
          <p:nvPr/>
        </p:nvSpPr>
        <p:spPr>
          <a:xfrm>
            <a:off x="8847327" y="4935086"/>
            <a:ext cx="25186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i="1" dirty="0"/>
              <a:t>Lantana camara</a:t>
            </a:r>
          </a:p>
          <a:p>
            <a:r>
              <a:rPr lang="en-NZ" i="1" dirty="0"/>
              <a:t>Psidium </a:t>
            </a:r>
            <a:r>
              <a:rPr lang="en-NZ" i="1" dirty="0" err="1"/>
              <a:t>cattleianum</a:t>
            </a:r>
            <a:endParaRPr lang="en-NZ" i="1" dirty="0"/>
          </a:p>
          <a:p>
            <a:r>
              <a:rPr lang="en-NZ" i="1" dirty="0"/>
              <a:t>Cenchrus </a:t>
            </a:r>
            <a:r>
              <a:rPr lang="en-NZ" i="1" dirty="0" err="1"/>
              <a:t>clandestinus</a:t>
            </a:r>
            <a:endParaRPr lang="en-NZ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34BE47-3187-8392-3D4A-649B3A5D43BE}"/>
              </a:ext>
            </a:extLst>
          </p:cNvPr>
          <p:cNvSpPr txBox="1"/>
          <p:nvPr/>
        </p:nvSpPr>
        <p:spPr>
          <a:xfrm>
            <a:off x="8315130" y="1361322"/>
            <a:ext cx="3583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accent5">
                    <a:lumMod val="75000"/>
                  </a:schemeClr>
                </a:solidFill>
              </a:rPr>
              <a:t>Unstructured biosecurity “corpus”</a:t>
            </a:r>
          </a:p>
        </p:txBody>
      </p:sp>
    </p:spTree>
    <p:extLst>
      <p:ext uri="{BB962C8B-B14F-4D97-AF65-F5344CB8AC3E}">
        <p14:creationId xmlns:p14="http://schemas.microsoft.com/office/powerpoint/2010/main" val="53529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964AF-0148-2F16-CC94-F5E768AA9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Files and project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DD128-3398-9793-BA1C-919309E0A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Single Repository Setup</a:t>
            </a:r>
          </a:p>
          <a:p>
            <a:pPr marL="0" lvl="1" indent="0">
              <a:buNone/>
            </a:pPr>
            <a:r>
              <a:rPr lang="en-US" dirty="0"/>
              <a:t>All workshop materials except the API key are provided in a single repository for simplicity and easy access.</a:t>
            </a:r>
          </a:p>
          <a:p>
            <a:pPr marL="0" lvl="1" indent="0">
              <a:buNone/>
            </a:pPr>
            <a:r>
              <a:rPr lang="en-US" dirty="0"/>
              <a:t> </a:t>
            </a:r>
            <a:r>
              <a:rPr lang="en-US" dirty="0">
                <a:hlinkClick r:id="rId2"/>
              </a:rPr>
              <a:t>https://cbud.github.io/biosecurity-symposium/</a:t>
            </a:r>
            <a:r>
              <a:rPr lang="en-US" dirty="0"/>
              <a:t> website explanation</a:t>
            </a:r>
          </a:p>
          <a:p>
            <a:pPr marL="0" lvl="1" indent="0">
              <a:buNone/>
            </a:pPr>
            <a:r>
              <a:rPr lang="en-US" dirty="0">
                <a:hlinkClick r:id="rId3"/>
              </a:rPr>
              <a:t>https://github.com/cbud/biosecurity-symposium</a:t>
            </a:r>
            <a:r>
              <a:rPr lang="en-US" dirty="0"/>
              <a:t> repository</a:t>
            </a:r>
          </a:p>
          <a:p>
            <a:pPr marL="0" lvl="1" indent="0">
              <a:buNone/>
            </a:pPr>
            <a:r>
              <a:rPr lang="en-NZ" dirty="0">
                <a:hlinkClick r:id="rId4"/>
              </a:rPr>
              <a:t>https://github.com/cbud/biosecurity-symposium/archive/refs/heads/main.zip</a:t>
            </a:r>
            <a:r>
              <a:rPr lang="en-NZ" dirty="0"/>
              <a:t> download most of what you need</a:t>
            </a:r>
            <a:endParaRPr lang="en-US" dirty="0"/>
          </a:p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Folder Organization</a:t>
            </a:r>
          </a:p>
          <a:p>
            <a:pPr marL="0" lvl="1" indent="0">
              <a:buNone/>
            </a:pPr>
            <a:r>
              <a:rPr lang="en-US" dirty="0"/>
              <a:t>The project uses folders like corpus, prompts, and functions to separate components clearly.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Main Script Coordination</a:t>
            </a:r>
          </a:p>
          <a:p>
            <a:pPr marL="0" lvl="1" indent="0">
              <a:buNone/>
            </a:pPr>
            <a:r>
              <a:rPr lang="en-US" dirty="0"/>
              <a:t>A main script orchestrates the workflow, handling the pipeline from start to finish with minimal modification.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Workshop Focus</a:t>
            </a:r>
          </a:p>
          <a:p>
            <a:pPr marL="0" lvl="1" indent="0">
              <a:buNone/>
            </a:pPr>
            <a:r>
              <a:rPr lang="en-US" dirty="0"/>
              <a:t>We will focus on running scripts and understanding input-output without deep code changes.</a:t>
            </a:r>
          </a:p>
          <a:p>
            <a:endParaRPr lang="en-NZ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757967-262B-2137-D232-E1CA026D2E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5" name="Content Placeholder 4" descr="File folder big data internet network cloud computing">
            <a:extLst>
              <a:ext uri="{FF2B5EF4-FFF2-40B4-BE49-F238E27FC236}">
                <a16:creationId xmlns:a16="http://schemas.microsoft.com/office/drawing/2014/main" id="{E9273EBF-2F52-9E15-D0A9-FC3818E07D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378" r="17484" b="3"/>
          <a:stretch>
            <a:fillRect/>
          </a:stretch>
        </p:blipFill>
        <p:spPr>
          <a:xfrm>
            <a:off x="8127122" y="1584186"/>
            <a:ext cx="3945827" cy="3785880"/>
          </a:xfrm>
          <a:custGeom>
            <a:avLst/>
            <a:gdLst>
              <a:gd name="connsiteX0" fmla="*/ 3930446 w 3945827"/>
              <a:gd name="connsiteY0" fmla="*/ 5 h 3785880"/>
              <a:gd name="connsiteX1" fmla="*/ 3932537 w 3945827"/>
              <a:gd name="connsiteY1" fmla="*/ 2321853 h 3785880"/>
              <a:gd name="connsiteX2" fmla="*/ 3929331 w 3945827"/>
              <a:gd name="connsiteY2" fmla="*/ 2513782 h 3785880"/>
              <a:gd name="connsiteX3" fmla="*/ 3900283 w 3945827"/>
              <a:gd name="connsiteY3" fmla="*/ 2517711 h 3785880"/>
              <a:gd name="connsiteX4" fmla="*/ 3732592 w 3945827"/>
              <a:gd name="connsiteY4" fmla="*/ 2566596 h 3785880"/>
              <a:gd name="connsiteX5" fmla="*/ 3857855 w 3945827"/>
              <a:gd name="connsiteY5" fmla="*/ 3004249 h 3785880"/>
              <a:gd name="connsiteX6" fmla="*/ 3915181 w 3945827"/>
              <a:gd name="connsiteY6" fmla="*/ 3212343 h 3785880"/>
              <a:gd name="connsiteX7" fmla="*/ 3914595 w 3945827"/>
              <a:gd name="connsiteY7" fmla="*/ 3236939 h 3785880"/>
              <a:gd name="connsiteX8" fmla="*/ 3900838 w 3945827"/>
              <a:gd name="connsiteY8" fmla="*/ 3696910 h 3785880"/>
              <a:gd name="connsiteX9" fmla="*/ 8317 w 3945827"/>
              <a:gd name="connsiteY9" fmla="*/ 3776554 h 3785880"/>
              <a:gd name="connsiteX10" fmla="*/ 0 w 3945827"/>
              <a:gd name="connsiteY10" fmla="*/ 26202 h 3785880"/>
              <a:gd name="connsiteX11" fmla="*/ 3930446 w 3945827"/>
              <a:gd name="connsiteY11" fmla="*/ 5 h 378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5827" h="3785880">
                <a:moveTo>
                  <a:pt x="3930446" y="5"/>
                </a:moveTo>
                <a:cubicBezTo>
                  <a:pt x="3953664" y="277596"/>
                  <a:pt x="3947436" y="1365687"/>
                  <a:pt x="3932537" y="2321853"/>
                </a:cubicBezTo>
                <a:lnTo>
                  <a:pt x="3929331" y="2513782"/>
                </a:lnTo>
                <a:lnTo>
                  <a:pt x="3900283" y="2517711"/>
                </a:lnTo>
                <a:cubicBezTo>
                  <a:pt x="3806046" y="2534538"/>
                  <a:pt x="3731946" y="2555635"/>
                  <a:pt x="3732592" y="2566596"/>
                </a:cubicBezTo>
                <a:cubicBezTo>
                  <a:pt x="3776426" y="2711503"/>
                  <a:pt x="3817487" y="2857713"/>
                  <a:pt x="3857855" y="3004249"/>
                </a:cubicBezTo>
                <a:lnTo>
                  <a:pt x="3915181" y="3212343"/>
                </a:lnTo>
                <a:lnTo>
                  <a:pt x="3914595" y="3236939"/>
                </a:lnTo>
                <a:cubicBezTo>
                  <a:pt x="3909989" y="3424032"/>
                  <a:pt x="3905295" y="3582264"/>
                  <a:pt x="3900838" y="3696910"/>
                </a:cubicBezTo>
                <a:cubicBezTo>
                  <a:pt x="3115719" y="3744071"/>
                  <a:pt x="2227881" y="3810572"/>
                  <a:pt x="8317" y="3776554"/>
                </a:cubicBezTo>
                <a:lnTo>
                  <a:pt x="0" y="26202"/>
                </a:lnTo>
                <a:cubicBezTo>
                  <a:pt x="1014177" y="12710"/>
                  <a:pt x="2624398" y="-292"/>
                  <a:pt x="3930446" y="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60147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A8E35-BC26-BD09-EC27-73E52FB1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Open script and make some changes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003E651-CD6D-F0B2-4E1B-DFC3804D5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833" y="1825625"/>
            <a:ext cx="6788460" cy="4351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57D654-EF6D-9161-D2B4-F71EF9DA8E5E}"/>
              </a:ext>
            </a:extLst>
          </p:cNvPr>
          <p:cNvSpPr txBox="1"/>
          <p:nvPr/>
        </p:nvSpPr>
        <p:spPr>
          <a:xfrm>
            <a:off x="7932738" y="1859339"/>
            <a:ext cx="28674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noProof="0"/>
              <a:t>Open these files</a:t>
            </a:r>
          </a:p>
          <a:p>
            <a:endParaRPr lang="en-NZ" noProof="0" dirty="0"/>
          </a:p>
          <a:p>
            <a:r>
              <a:rPr lang="en-NZ" noProof="0" dirty="0"/>
              <a:t>AI biosecurity workshop </a:t>
            </a:r>
            <a:r>
              <a:rPr lang="en-NZ" noProof="0" dirty="0" err="1"/>
              <a:t>generalized.R</a:t>
            </a:r>
            <a:endParaRPr lang="en-NZ" noProof="0" dirty="0"/>
          </a:p>
          <a:p>
            <a:endParaRPr lang="en-NZ" noProof="0" dirty="0"/>
          </a:p>
          <a:p>
            <a:r>
              <a:rPr lang="en-NZ" noProof="0" dirty="0"/>
              <a:t>source("prompts/prompt_1.R") </a:t>
            </a:r>
          </a:p>
          <a:p>
            <a:endParaRPr lang="en-NZ" noProof="0" dirty="0"/>
          </a:p>
          <a:p>
            <a:endParaRPr lang="en-NZ" noProof="0" dirty="0"/>
          </a:p>
          <a:p>
            <a:r>
              <a:rPr lang="en-NZ" noProof="0" dirty="0"/>
              <a:t>Run the setup chunks – modify as needed.</a:t>
            </a:r>
          </a:p>
          <a:p>
            <a:endParaRPr lang="en-NZ" noProof="0" dirty="0"/>
          </a:p>
          <a:p>
            <a:r>
              <a:rPr lang="en-NZ" noProof="0" dirty="0"/>
              <a:t>You can change the prompts for new topics</a:t>
            </a:r>
          </a:p>
          <a:p>
            <a:endParaRPr lang="en-NZ" noProof="0" dirty="0"/>
          </a:p>
          <a:p>
            <a:endParaRPr lang="en-NZ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55E08F-E49A-9EEC-B0C4-1E2D2EA10AC1}"/>
              </a:ext>
            </a:extLst>
          </p:cNvPr>
          <p:cNvSpPr txBox="1"/>
          <p:nvPr/>
        </p:nvSpPr>
        <p:spPr>
          <a:xfrm>
            <a:off x="6742407" y="5716149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accent5">
                    <a:lumMod val="75000"/>
                  </a:schemeClr>
                </a:solidFill>
              </a:rPr>
              <a:t>←Change this to match location of the 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5A2D70-2050-AA24-E874-EA924F6ADE58}"/>
              </a:ext>
            </a:extLst>
          </p:cNvPr>
          <p:cNvSpPr txBox="1"/>
          <p:nvPr/>
        </p:nvSpPr>
        <p:spPr>
          <a:xfrm>
            <a:off x="8558358" y="3518753"/>
            <a:ext cx="3216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accent5">
                    <a:lumMod val="75000"/>
                  </a:schemeClr>
                </a:solidFill>
              </a:rPr>
              <a:t>← You can create a new one</a:t>
            </a:r>
          </a:p>
        </p:txBody>
      </p:sp>
    </p:spTree>
    <p:extLst>
      <p:ext uri="{BB962C8B-B14F-4D97-AF65-F5344CB8AC3E}">
        <p14:creationId xmlns:p14="http://schemas.microsoft.com/office/powerpoint/2010/main" val="3388957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2B4B2-5EC1-B8CD-7BEF-16504B289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In example: topic filtering then species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568DE-D7F6-552B-14D9-CD916D86F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Topic Filtering Step</a:t>
            </a:r>
          </a:p>
          <a:p>
            <a:pPr marL="0" lvl="1" indent="0">
              <a:buNone/>
            </a:pPr>
            <a:r>
              <a:rPr lang="en-US" dirty="0"/>
              <a:t>The model classifies documents as relevant or off-topic using simple yes/no questions, enabling efficient filtering.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Species Extraction Step</a:t>
            </a:r>
          </a:p>
          <a:p>
            <a:pPr marL="0" lvl="1" indent="0">
              <a:buNone/>
            </a:pPr>
            <a:r>
              <a:rPr lang="en-US" dirty="0"/>
              <a:t>The model extracts specific species names formatted for automated processing, supporting detailed data analysis.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Other information could be extracted and if we have time you can try it</a:t>
            </a:r>
          </a:p>
          <a:p>
            <a:pPr marL="0" lvl="1" indent="0">
              <a:buNone/>
            </a:pPr>
            <a:r>
              <a:rPr lang="en-US" dirty="0"/>
              <a:t>You could add some prompts to a new prompt file if we have time.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Controlled LLM Pipeline Use</a:t>
            </a:r>
          </a:p>
          <a:p>
            <a:pPr marL="0" lvl="1" indent="0">
              <a:buNone/>
            </a:pPr>
            <a:r>
              <a:rPr lang="en-US" dirty="0"/>
              <a:t>LLMs function as controlled components, not free-form generators, within a biosecurity data-processing pipeline. Current scripts work with older models than gpt-5 , set up is with gpt-4o-mini</a:t>
            </a:r>
          </a:p>
          <a:p>
            <a:pPr marL="0" lvl="1" indent="0">
              <a:buNone/>
            </a:pPr>
            <a:endParaRPr lang="en-US" dirty="0"/>
          </a:p>
          <a:p>
            <a:pPr marL="0" lvl="1" indent="0">
              <a:buNone/>
            </a:pPr>
            <a:r>
              <a:rPr lang="en-US" b="1" dirty="0"/>
              <a:t>Biosecurity Application Benefits</a:t>
            </a:r>
          </a:p>
          <a:p>
            <a:pPr marL="0" lvl="1" indent="0">
              <a:buNone/>
            </a:pPr>
            <a:r>
              <a:rPr lang="en-US" dirty="0"/>
              <a:t>This approach enables rapid scanning of texts to identify frequent species and potential hazards in biosecurity.</a:t>
            </a:r>
          </a:p>
          <a:p>
            <a:endParaRPr lang="en-NZ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28CAB11-CC5C-6202-5031-8B663C65EE2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941B206-5F82-D538-3BF1-1DF6DE20EA78}"/>
              </a:ext>
            </a:extLst>
          </p:cNvPr>
          <p:cNvSpPr/>
          <p:nvPr/>
        </p:nvSpPr>
        <p:spPr>
          <a:xfrm>
            <a:off x="10118900" y="5393221"/>
            <a:ext cx="1545443" cy="518735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On topic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CEDE628-1B8F-15EB-C8E1-C38B8D048BB2}"/>
              </a:ext>
            </a:extLst>
          </p:cNvPr>
          <p:cNvSpPr/>
          <p:nvPr/>
        </p:nvSpPr>
        <p:spPr>
          <a:xfrm>
            <a:off x="8810864" y="2156570"/>
            <a:ext cx="831690" cy="2665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B70F793-C6DD-41A2-6083-2CF82F916818}"/>
              </a:ext>
            </a:extLst>
          </p:cNvPr>
          <p:cNvSpPr/>
          <p:nvPr/>
        </p:nvSpPr>
        <p:spPr>
          <a:xfrm>
            <a:off x="9703055" y="2539308"/>
            <a:ext cx="831690" cy="2665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68DC88C-B322-AEDE-678D-D4EACCA0B9C8}"/>
              </a:ext>
            </a:extLst>
          </p:cNvPr>
          <p:cNvSpPr/>
          <p:nvPr/>
        </p:nvSpPr>
        <p:spPr>
          <a:xfrm>
            <a:off x="8810864" y="4411846"/>
            <a:ext cx="831690" cy="2665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C632C46-C6C8-EAFC-842A-6E65129704BB}"/>
              </a:ext>
            </a:extLst>
          </p:cNvPr>
          <p:cNvSpPr/>
          <p:nvPr/>
        </p:nvSpPr>
        <p:spPr>
          <a:xfrm>
            <a:off x="8349434" y="2561118"/>
            <a:ext cx="831690" cy="2665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76FD251-54B6-262E-155C-7C2BE3128C98}"/>
              </a:ext>
            </a:extLst>
          </p:cNvPr>
          <p:cNvSpPr/>
          <p:nvPr/>
        </p:nvSpPr>
        <p:spPr>
          <a:xfrm flipV="1">
            <a:off x="8871365" y="2902492"/>
            <a:ext cx="831690" cy="15240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55A1AFD-15E8-4BC1-CEE1-6CD6415FFFB3}"/>
              </a:ext>
            </a:extLst>
          </p:cNvPr>
          <p:cNvSpPr/>
          <p:nvPr/>
        </p:nvSpPr>
        <p:spPr>
          <a:xfrm>
            <a:off x="9041378" y="4731722"/>
            <a:ext cx="831690" cy="2665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FFF51B1-4605-0619-10C5-7F2557E5616E}"/>
              </a:ext>
            </a:extLst>
          </p:cNvPr>
          <p:cNvSpPr/>
          <p:nvPr/>
        </p:nvSpPr>
        <p:spPr>
          <a:xfrm>
            <a:off x="9933569" y="5114460"/>
            <a:ext cx="831690" cy="2665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FC7DB7C-D437-8057-6180-AC7977F06125}"/>
              </a:ext>
            </a:extLst>
          </p:cNvPr>
          <p:cNvSpPr/>
          <p:nvPr/>
        </p:nvSpPr>
        <p:spPr>
          <a:xfrm>
            <a:off x="8579948" y="5136270"/>
            <a:ext cx="831690" cy="266508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D6D6814A-45B4-A1BE-3788-99F42FF9A999}"/>
              </a:ext>
            </a:extLst>
          </p:cNvPr>
          <p:cNvSpPr/>
          <p:nvPr/>
        </p:nvSpPr>
        <p:spPr>
          <a:xfrm>
            <a:off x="9978473" y="4305189"/>
            <a:ext cx="1545443" cy="518735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On topic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2E2F0B8B-69B4-3ABA-CFA8-01973AE090D5}"/>
              </a:ext>
            </a:extLst>
          </p:cNvPr>
          <p:cNvSpPr/>
          <p:nvPr/>
        </p:nvSpPr>
        <p:spPr>
          <a:xfrm>
            <a:off x="9933569" y="2012948"/>
            <a:ext cx="1545443" cy="518735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On topic</a:t>
            </a:r>
          </a:p>
        </p:txBody>
      </p:sp>
    </p:spTree>
    <p:extLst>
      <p:ext uri="{BB962C8B-B14F-4D97-AF65-F5344CB8AC3E}">
        <p14:creationId xmlns:p14="http://schemas.microsoft.com/office/powerpoint/2010/main" val="2076481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A43B-5DB5-899C-28AD-FFB4EEFA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Understanding the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1A1F8-60D0-C3C4-B63B-60A574064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Master Dataset Composition</a:t>
            </a:r>
          </a:p>
          <a:p>
            <a:pPr marL="0" lvl="1" indent="0">
              <a:buNone/>
            </a:pPr>
            <a:r>
              <a:rPr lang="en-US" dirty="0"/>
              <a:t>The final dataset merges bibliographic data with AI-derived variables like topic relevance and species names.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Summary Tables for Analysis</a:t>
            </a:r>
          </a:p>
          <a:p>
            <a:pPr marL="0" lvl="1" indent="0">
              <a:buNone/>
            </a:pPr>
            <a:r>
              <a:rPr lang="en-US" dirty="0"/>
              <a:t>Summary tables present publication counts for species, serving as proxies for research attention and impact.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Critical Evaluation Encouraged</a:t>
            </a:r>
          </a:p>
          <a:p>
            <a:pPr marL="0" lvl="1" indent="0">
              <a:buNone/>
            </a:pPr>
            <a:r>
              <a:rPr lang="en-US" dirty="0"/>
              <a:t>Participants are urged to verify AI outputs with original abstracts and consider the meaning behind the numbers.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b="1" dirty="0"/>
              <a:t>AI Enables Rapid Synthesis</a:t>
            </a:r>
          </a:p>
          <a:p>
            <a:pPr marL="0" lvl="1" indent="0">
              <a:buNone/>
            </a:pPr>
            <a:r>
              <a:rPr lang="en-US" dirty="0"/>
              <a:t>AI accelerates transparent synthesis of vast literature, enabling efficient biosecurity hazard ranking.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82481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96301-DCE5-0CB9-C17B-85568893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Rerun with your own topic added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4B332-0631-BDBE-179B-33295C2F0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Paste the old prompt into OpenAI chat or another AI chat provider to “Provide a modified script following the example I give it should add an additional topic that distinguishes whether the weed or invasive plant in the text is mentioned in a conservation, agricultural, forestry or other context. The contexts should be output as a concise semicolon separated list of values. Respond concisely”</a:t>
            </a:r>
          </a:p>
          <a:p>
            <a:r>
              <a:rPr lang="en-NZ" dirty="0"/>
              <a:t>Create a </a:t>
            </a:r>
            <a:r>
              <a:rPr lang="en-NZ" dirty="0" err="1"/>
              <a:t>prompt_new.R</a:t>
            </a:r>
            <a:r>
              <a:rPr lang="en-NZ" dirty="0"/>
              <a:t> file</a:t>
            </a:r>
          </a:p>
          <a:p>
            <a:r>
              <a:rPr lang="en-NZ" dirty="0"/>
              <a:t>Rerun the generalized script after updating file location for the prompt and the directory for the outputs.</a:t>
            </a:r>
          </a:p>
        </p:txBody>
      </p:sp>
    </p:spTree>
    <p:extLst>
      <p:ext uri="{BB962C8B-B14F-4D97-AF65-F5344CB8AC3E}">
        <p14:creationId xmlns:p14="http://schemas.microsoft.com/office/powerpoint/2010/main" val="3057913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36A4-35D8-F1C8-C12A-1722F450F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LLM data recovery steps reiterated: identify weed binomials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22D7A-F982-07ED-F9A4-C182BC6D7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NZ" dirty="0"/>
              <a:t>Compile a </a:t>
            </a:r>
            <a:r>
              <a:rPr lang="en-NZ" dirty="0" err="1"/>
              <a:t>dataframe</a:t>
            </a:r>
            <a:r>
              <a:rPr lang="en-NZ" dirty="0"/>
              <a:t> with the corpus (text for querying with AI), with one row per source title abstract keywords are merged in this case </a:t>
            </a:r>
            <a:r>
              <a:rPr lang="en-NZ" dirty="0">
                <a:hlinkClick r:id="rId2"/>
              </a:rPr>
              <a:t>https://github.com/cbud/biosecurity-symposium/blob/main/corpus/scopus_sample_data_set.xlsx</a:t>
            </a:r>
            <a:r>
              <a:rPr lang="en-NZ" dirty="0"/>
              <a:t> </a:t>
            </a:r>
          </a:p>
          <a:p>
            <a:r>
              <a:rPr lang="en-NZ" dirty="0"/>
              <a:t>R script for the generalized pipeline is in the </a:t>
            </a:r>
            <a:r>
              <a:rPr lang="en-NZ" dirty="0">
                <a:hlinkClick r:id="rId3"/>
              </a:rPr>
              <a:t>https://github.com/cbud/biosecurity-symposium/blob/main/AI%20biosecurity%20workshop%20generalized.R</a:t>
            </a:r>
            <a:r>
              <a:rPr lang="en-NZ" dirty="0"/>
              <a:t> </a:t>
            </a:r>
          </a:p>
          <a:p>
            <a:r>
              <a:rPr lang="en-NZ" dirty="0"/>
              <a:t>Load packages</a:t>
            </a:r>
          </a:p>
          <a:p>
            <a:r>
              <a:rPr lang="en-NZ" dirty="0"/>
              <a:t>Prime your system to work with API key </a:t>
            </a:r>
            <a:r>
              <a:rPr lang="en-NZ" dirty="0">
                <a:hlinkClick r:id="rId3"/>
              </a:rPr>
              <a:t>https://github.com/cbud/biosecurity-symposium/blob/main/AI%20biosecurity%20workshop%20generalized.R</a:t>
            </a:r>
            <a:endParaRPr lang="en-NZ" dirty="0"/>
          </a:p>
          <a:p>
            <a:r>
              <a:rPr lang="en-NZ" dirty="0"/>
              <a:t>Set pipeline directories, specify location of the API key text file, and models and chunk size – merge into single file for all citations scanned.</a:t>
            </a:r>
          </a:p>
          <a:p>
            <a:r>
              <a:rPr lang="en-NZ" dirty="0"/>
              <a:t>Develop a prompt for use with an OpenAI model (e.g. GPT‑4o‑mini) </a:t>
            </a:r>
            <a:r>
              <a:rPr lang="en-NZ" dirty="0">
                <a:hlinkClick r:id="rId4"/>
              </a:rPr>
              <a:t>https://github.com/cbud/biosecurity-symposium/blob/main/prompts/prompt_1.R</a:t>
            </a:r>
            <a:r>
              <a:rPr lang="en-NZ" dirty="0"/>
              <a:t> </a:t>
            </a:r>
          </a:p>
          <a:p>
            <a:r>
              <a:rPr lang="en-NZ" dirty="0"/>
              <a:t>Run the prompts across the </a:t>
            </a:r>
            <a:r>
              <a:rPr lang="en-NZ" dirty="0" err="1"/>
              <a:t>dataframe</a:t>
            </a:r>
            <a:r>
              <a:rPr lang="en-NZ" dirty="0"/>
              <a:t> – functions: </a:t>
            </a:r>
            <a:r>
              <a:rPr lang="en-NZ" dirty="0">
                <a:hlinkClick r:id="rId5"/>
              </a:rPr>
              <a:t>https://github.com/cbud/biosecurity-symposium/blob/main/functions/f_ai_text_analysis.R</a:t>
            </a:r>
            <a:r>
              <a:rPr lang="en-NZ" dirty="0"/>
              <a:t> </a:t>
            </a:r>
            <a:br>
              <a:rPr lang="en-NZ" dirty="0"/>
            </a:br>
            <a:endParaRPr lang="en-NZ" dirty="0"/>
          </a:p>
          <a:p>
            <a:r>
              <a:rPr lang="en-NZ" dirty="0"/>
              <a:t>Standardise names to the GBIF backbone: </a:t>
            </a:r>
            <a:r>
              <a:rPr lang="en-NZ" dirty="0">
                <a:hlinkClick r:id="rId6"/>
              </a:rPr>
              <a:t>https://github.com/cbud/biosecurity-symposium/blob/main/functions/f_get_gbif_backbone_ids_from_df.R</a:t>
            </a:r>
            <a:r>
              <a:rPr lang="en-NZ" dirty="0"/>
              <a:t> 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133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SI v2">
      <a:dk1>
        <a:srgbClr val="000000"/>
      </a:dk1>
      <a:lt1>
        <a:srgbClr val="FFFFFF"/>
      </a:lt1>
      <a:dk2>
        <a:srgbClr val="004149"/>
      </a:dk2>
      <a:lt2>
        <a:srgbClr val="DAFAFF"/>
      </a:lt2>
      <a:accent1>
        <a:srgbClr val="80FFB3"/>
      </a:accent1>
      <a:accent2>
        <a:srgbClr val="7FA0A3"/>
      </a:accent2>
      <a:accent3>
        <a:srgbClr val="FDF379"/>
      </a:accent3>
      <a:accent4>
        <a:srgbClr val="5DCEE6"/>
      </a:accent4>
      <a:accent5>
        <a:srgbClr val="FFA12E"/>
      </a:accent5>
      <a:accent6>
        <a:srgbClr val="75BA88"/>
      </a:accent6>
      <a:hlink>
        <a:srgbClr val="000000"/>
      </a:hlink>
      <a:folHlink>
        <a:srgbClr val="7FA0A3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SI-Blank_Template.potx" id="{9501A3FA-A170-4B07-A045-4A4BAA764C22}" vid="{529F5345-826C-47ED-9855-1EF9D4E542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f36e03-c0bb-4cfe-bb89-f5083733badd">
      <Terms xmlns="http://schemas.microsoft.com/office/infopath/2007/PartnerControls"/>
    </lcf76f155ced4ddcb4097134ff3c332f>
    <TaxCatchAll xmlns="b6ba4a5e-f3c7-42d2-be29-26939782972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064D5850C6804AAB60D7B343D89065" ma:contentTypeVersion="11" ma:contentTypeDescription="Create a new document." ma:contentTypeScope="" ma:versionID="37f1d4927c0043bf97649d24f79c1b0a">
  <xsd:schema xmlns:xsd="http://www.w3.org/2001/XMLSchema" xmlns:xs="http://www.w3.org/2001/XMLSchema" xmlns:p="http://schemas.microsoft.com/office/2006/metadata/properties" xmlns:ns2="02f36e03-c0bb-4cfe-bb89-f5083733badd" xmlns:ns3="b6ba4a5e-f3c7-42d2-be29-26939782972e" targetNamespace="http://schemas.microsoft.com/office/2006/metadata/properties" ma:root="true" ma:fieldsID="cb348c21c6558cec049bd2421de48276" ns2:_="" ns3:_="">
    <xsd:import namespace="02f36e03-c0bb-4cfe-bb89-f5083733badd"/>
    <xsd:import namespace="b6ba4a5e-f3c7-42d2-be29-2693978297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f36e03-c0bb-4cfe-bb89-f5083733ba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9279844d-f8c7-4957-bd55-ac87bf8975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ba4a5e-f3c7-42d2-be29-26939782972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178083-c9e1-4889-bcf6-34bde0a82382}" ma:internalName="TaxCatchAll" ma:showField="CatchAllData" ma:web="b6ba4a5e-f3c7-42d2-be29-2693978297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93D1F5-D3CF-4AF2-A5C7-4BEE29A139E9}">
  <ds:schemaRefs>
    <ds:schemaRef ds:uri="02f36e03-c0bb-4cfe-bb89-f5083733badd"/>
    <ds:schemaRef ds:uri="b6ba4a5e-f3c7-42d2-be29-26939782972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B8288D4-4182-4AFB-ABF9-292F037AC0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9D34E0-3907-4C68-A925-7D3653763BF9}">
  <ds:schemaRefs>
    <ds:schemaRef ds:uri="02f36e03-c0bb-4cfe-bb89-f5083733badd"/>
    <ds:schemaRef ds:uri="b6ba4a5e-f3c7-42d2-be29-26939782972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BSI-Blank_Template</Template>
  <TotalTime>1090</TotalTime>
  <Words>1036</Words>
  <Application>Microsoft Office PowerPoint</Application>
  <PresentationFormat>Widescreen</PresentationFormat>
  <Paragraphs>112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Arial Black</vt:lpstr>
      <vt:lpstr>Office Theme</vt:lpstr>
      <vt:lpstr>LLM based extraction of biosecurity data from a corpus</vt:lpstr>
      <vt:lpstr>Goals</vt:lpstr>
      <vt:lpstr>Using API for AI prompt completion - background</vt:lpstr>
      <vt:lpstr>LLM</vt:lpstr>
      <vt:lpstr>Turning Unstructured Text into Structured Biosecurity Data</vt:lpstr>
      <vt:lpstr>Files and project structure</vt:lpstr>
      <vt:lpstr>Open script and make some changes</vt:lpstr>
      <vt:lpstr>In example: topic filtering then species extraction</vt:lpstr>
      <vt:lpstr>Understanding the results</vt:lpstr>
      <vt:lpstr>Rerun with your own topic added</vt:lpstr>
      <vt:lpstr>LLM data recovery steps reiterated: identify weed binomials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Buddenhagen</dc:creator>
  <cp:lastModifiedBy>Response</cp:lastModifiedBy>
  <cp:revision>220</cp:revision>
  <dcterms:created xsi:type="dcterms:W3CDTF">2026-02-04T00:46:33Z</dcterms:created>
  <dcterms:modified xsi:type="dcterms:W3CDTF">2026-06-03T03:30:46Z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d8f3512-c98a-4fbc-ad6e-3260f1cde3f8_Enabled">
    <vt:lpwstr>true</vt:lpwstr>
  </property>
  <property fmtid="{D5CDD505-2E9C-101B-9397-08002B2CF9AE}" pid="3" name="MSIP_Label_8d8f3512-c98a-4fbc-ad6e-3260f1cde3f8_SetDate">
    <vt:lpwstr>2025-08-28T04:01:51Z</vt:lpwstr>
  </property>
  <property fmtid="{D5CDD505-2E9C-101B-9397-08002B2CF9AE}" pid="4" name="MSIP_Label_8d8f3512-c98a-4fbc-ad6e-3260f1cde3f8_Method">
    <vt:lpwstr>Standard</vt:lpwstr>
  </property>
  <property fmtid="{D5CDD505-2E9C-101B-9397-08002B2CF9AE}" pid="5" name="MSIP_Label_8d8f3512-c98a-4fbc-ad6e-3260f1cde3f8_Name">
    <vt:lpwstr>Internal</vt:lpwstr>
  </property>
  <property fmtid="{D5CDD505-2E9C-101B-9397-08002B2CF9AE}" pid="6" name="MSIP_Label_8d8f3512-c98a-4fbc-ad6e-3260f1cde3f8_SiteId">
    <vt:lpwstr>6ca75ef7-2c66-42e7-af2c-6502153a7e3a</vt:lpwstr>
  </property>
  <property fmtid="{D5CDD505-2E9C-101B-9397-08002B2CF9AE}" pid="7" name="MSIP_Label_8d8f3512-c98a-4fbc-ad6e-3260f1cde3f8_ActionId">
    <vt:lpwstr>da0186f6-3393-4ddb-9fbb-c15f58515882</vt:lpwstr>
  </property>
  <property fmtid="{D5CDD505-2E9C-101B-9397-08002B2CF9AE}" pid="8" name="MSIP_Label_8d8f3512-c98a-4fbc-ad6e-3260f1cde3f8_ContentBits">
    <vt:lpwstr>0</vt:lpwstr>
  </property>
  <property fmtid="{D5CDD505-2E9C-101B-9397-08002B2CF9AE}" pid="9" name="MSIP_Label_8d8f3512-c98a-4fbc-ad6e-3260f1cde3f8_Tag">
    <vt:lpwstr>50, 3, 0, 1</vt:lpwstr>
  </property>
  <property fmtid="{D5CDD505-2E9C-101B-9397-08002B2CF9AE}" pid="10" name="ContentTypeId">
    <vt:lpwstr>0x0101005C064D5850C6804AAB60D7B343D89065</vt:lpwstr>
  </property>
</Properties>
</file>